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0" r:id="rId4"/>
    <p:sldId id="273" r:id="rId5"/>
    <p:sldId id="272" r:id="rId6"/>
    <p:sldId id="262" r:id="rId7"/>
    <p:sldId id="263" r:id="rId8"/>
    <p:sldId id="274" r:id="rId9"/>
    <p:sldId id="264" r:id="rId10"/>
    <p:sldId id="265" r:id="rId11"/>
    <p:sldId id="266" r:id="rId12"/>
    <p:sldId id="276" r:id="rId13"/>
    <p:sldId id="277" r:id="rId14"/>
    <p:sldId id="278" r:id="rId15"/>
    <p:sldId id="279" r:id="rId16"/>
    <p:sldId id="268" r:id="rId17"/>
    <p:sldId id="269" r:id="rId18"/>
    <p:sldId id="270" r:id="rId19"/>
    <p:sldId id="271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23308-4332-F229-7681-2EB78E95DFCE}" v="20" dt="2026-06-30T00:12:06.188"/>
    <p1510:client id="{4D25D362-4776-7540-2366-8AE56EB18A64}" v="35" dt="2026-06-30T00:00:18.176"/>
    <p1510:client id="{6B94735D-F710-681E-E265-4D36E6C32386}" v="124" dt="2026-06-29T05:03:00.920"/>
    <p1510:client id="{849B33EE-CAF1-61DD-5CD8-40DBAA4DD858}" v="437" dt="2026-06-29T05:26:48.638"/>
    <p1510:client id="{F37E4F44-10F2-8B6D-7262-2C20659EA5EA}" v="1835" dt="2026-06-29T23:20:16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CE447C-B25B-4B9B-A727-53D35D2A38F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15C2B2D-E509-40E7-8BE7-1C9ECD8CF6EB}">
      <dgm:prSet phldrT="[Texto]" phldr="0"/>
      <dgm:spPr/>
      <dgm:t>
        <a:bodyPr/>
        <a:lstStyle/>
        <a:p>
          <a:pPr rtl="0"/>
          <a:r>
            <a:rPr lang="es-ES"/>
            <a:t>El cliente inicia la conexión</a:t>
          </a:r>
        </a:p>
      </dgm:t>
    </dgm:pt>
    <dgm:pt modelId="{580C4FD0-3300-4F1E-AD0E-E16237C5D373}" type="parTrans" cxnId="{207229FB-C7C4-4DF0-8FAD-12E34BACFBB9}">
      <dgm:prSet/>
      <dgm:spPr/>
      <dgm:t>
        <a:bodyPr/>
        <a:lstStyle/>
        <a:p>
          <a:endParaRPr lang="es-ES"/>
        </a:p>
      </dgm:t>
    </dgm:pt>
    <dgm:pt modelId="{33E330F7-384A-4B3D-AB03-5EF83D4659CE}" type="sibTrans" cxnId="{207229FB-C7C4-4DF0-8FAD-12E34BACFBB9}">
      <dgm:prSet/>
      <dgm:spPr/>
      <dgm:t>
        <a:bodyPr/>
        <a:lstStyle/>
        <a:p>
          <a:endParaRPr lang="es-ES"/>
        </a:p>
      </dgm:t>
    </dgm:pt>
    <dgm:pt modelId="{4DAE58ED-C09F-4160-A823-CFCD25D8F598}">
      <dgm:prSet phldrT="[Texto]" phldr="0"/>
      <dgm:spPr/>
      <dgm:t>
        <a:bodyPr/>
        <a:lstStyle/>
        <a:p>
          <a:pPr rtl="0"/>
          <a:r>
            <a:rPr lang="es-ES"/>
            <a:t>El servidor acepta la </a:t>
          </a:r>
          <a:r>
            <a:rPr lang="es-ES" err="1"/>
            <a:t>conexió</a:t>
          </a:r>
          <a:r>
            <a:rPr lang="es-ES"/>
            <a:t>n</a:t>
          </a:r>
        </a:p>
      </dgm:t>
    </dgm:pt>
    <dgm:pt modelId="{96833040-91D2-4521-8353-5F1F7DDE1D97}" type="parTrans" cxnId="{A0659953-55D2-4D59-A682-0F011940E1F3}">
      <dgm:prSet/>
      <dgm:spPr/>
      <dgm:t>
        <a:bodyPr/>
        <a:lstStyle/>
        <a:p>
          <a:endParaRPr lang="es-ES"/>
        </a:p>
      </dgm:t>
    </dgm:pt>
    <dgm:pt modelId="{EB553AB5-F119-4058-A7B7-C02E727BAA42}" type="sibTrans" cxnId="{A0659953-55D2-4D59-A682-0F011940E1F3}">
      <dgm:prSet/>
      <dgm:spPr/>
      <dgm:t>
        <a:bodyPr/>
        <a:lstStyle/>
        <a:p>
          <a:endParaRPr lang="es-ES"/>
        </a:p>
      </dgm:t>
    </dgm:pt>
    <dgm:pt modelId="{5A931600-1966-4943-A5D5-5FBD45B21A50}">
      <dgm:prSet phldrT="[Texto]" phldr="0"/>
      <dgm:spPr/>
      <dgm:t>
        <a:bodyPr/>
        <a:lstStyle/>
        <a:p>
          <a:pPr rtl="0"/>
          <a:r>
            <a:rPr lang="es-ES"/>
            <a:t>El cliente </a:t>
          </a:r>
          <a:r>
            <a:rPr lang="es-ES" err="1"/>
            <a:t>envia</a:t>
          </a:r>
          <a:r>
            <a:rPr lang="es-ES"/>
            <a:t> una solicitud o mensaje</a:t>
          </a:r>
        </a:p>
      </dgm:t>
    </dgm:pt>
    <dgm:pt modelId="{23314ACD-8BC2-4004-B85B-FF28F8AD9A77}" type="parTrans" cxnId="{CEFB14C0-15F6-4DB6-81F5-F5A807B47F91}">
      <dgm:prSet/>
      <dgm:spPr/>
      <dgm:t>
        <a:bodyPr/>
        <a:lstStyle/>
        <a:p>
          <a:endParaRPr lang="es-ES"/>
        </a:p>
      </dgm:t>
    </dgm:pt>
    <dgm:pt modelId="{C67EE0B2-3483-49AB-A106-68E82D9E7058}" type="sibTrans" cxnId="{CEFB14C0-15F6-4DB6-81F5-F5A807B47F91}">
      <dgm:prSet/>
      <dgm:spPr/>
      <dgm:t>
        <a:bodyPr/>
        <a:lstStyle/>
        <a:p>
          <a:endParaRPr lang="es-ES"/>
        </a:p>
      </dgm:t>
    </dgm:pt>
    <dgm:pt modelId="{1CFA814C-1221-4029-B24B-6FDEC58156E7}">
      <dgm:prSet phldrT="[Texto]" phldr="0"/>
      <dgm:spPr/>
      <dgm:t>
        <a:bodyPr/>
        <a:lstStyle/>
        <a:p>
          <a:pPr rtl="0"/>
          <a:r>
            <a:rPr lang="es-ES"/>
            <a:t>El Hub procesa la solicitud</a:t>
          </a:r>
        </a:p>
      </dgm:t>
    </dgm:pt>
    <dgm:pt modelId="{AB96A80E-64FA-49D0-AD5F-D4B146713E53}" type="parTrans" cxnId="{0E508C21-D2F1-4E6D-AF4D-871FD55B926C}">
      <dgm:prSet/>
      <dgm:spPr/>
      <dgm:t>
        <a:bodyPr/>
        <a:lstStyle/>
        <a:p>
          <a:endParaRPr lang="es-ES"/>
        </a:p>
      </dgm:t>
    </dgm:pt>
    <dgm:pt modelId="{01791B72-ED47-40A3-B845-BA6B95E36FE2}" type="sibTrans" cxnId="{0E508C21-D2F1-4E6D-AF4D-871FD55B926C}">
      <dgm:prSet/>
      <dgm:spPr/>
      <dgm:t>
        <a:bodyPr/>
        <a:lstStyle/>
        <a:p>
          <a:endParaRPr lang="es-ES"/>
        </a:p>
      </dgm:t>
    </dgm:pt>
    <dgm:pt modelId="{7C947615-45FF-4AC8-A782-7A687C74B3FF}">
      <dgm:prSet phldrT="[Texto]" phldr="0"/>
      <dgm:spPr/>
      <dgm:t>
        <a:bodyPr/>
        <a:lstStyle/>
        <a:p>
          <a:pPr rtl="0"/>
          <a:r>
            <a:rPr lang="es-ES"/>
            <a:t>El servidor distribuye el mensaje</a:t>
          </a:r>
        </a:p>
      </dgm:t>
    </dgm:pt>
    <dgm:pt modelId="{AD40F296-93BB-4228-B6A3-F9582674791C}" type="parTrans" cxnId="{C9D91CFA-4DCC-436B-A26C-1EBA1978546A}">
      <dgm:prSet/>
      <dgm:spPr/>
      <dgm:t>
        <a:bodyPr/>
        <a:lstStyle/>
        <a:p>
          <a:endParaRPr lang="es-ES"/>
        </a:p>
      </dgm:t>
    </dgm:pt>
    <dgm:pt modelId="{2E05D3C3-6E06-4672-8B06-B6AB2F9C5D8A}" type="sibTrans" cxnId="{C9D91CFA-4DCC-436B-A26C-1EBA1978546A}">
      <dgm:prSet/>
      <dgm:spPr/>
      <dgm:t>
        <a:bodyPr/>
        <a:lstStyle/>
        <a:p>
          <a:endParaRPr lang="es-ES"/>
        </a:p>
      </dgm:t>
    </dgm:pt>
    <dgm:pt modelId="{E884898E-A0E8-46E4-B46D-6BFE3677D620}">
      <dgm:prSet phldrT="[Texto]" phldr="0"/>
      <dgm:spPr/>
      <dgm:t>
        <a:bodyPr/>
        <a:lstStyle/>
        <a:p>
          <a:pPr rtl="0"/>
          <a:r>
            <a:rPr lang="es-ES"/>
            <a:t>Los clientes reciben la actualización en tiempo real</a:t>
          </a:r>
        </a:p>
      </dgm:t>
    </dgm:pt>
    <dgm:pt modelId="{ACE52708-F139-494E-83E4-DBA4060E1F3D}" type="parTrans" cxnId="{BB85065C-4D9C-4E50-8672-A5B09A4969C0}">
      <dgm:prSet/>
      <dgm:spPr/>
      <dgm:t>
        <a:bodyPr/>
        <a:lstStyle/>
        <a:p>
          <a:endParaRPr lang="es-ES"/>
        </a:p>
      </dgm:t>
    </dgm:pt>
    <dgm:pt modelId="{1714CB0C-9C6B-4B8D-B9A2-2CCB047B254E}" type="sibTrans" cxnId="{BB85065C-4D9C-4E50-8672-A5B09A4969C0}">
      <dgm:prSet/>
      <dgm:spPr/>
      <dgm:t>
        <a:bodyPr/>
        <a:lstStyle/>
        <a:p>
          <a:endParaRPr lang="es-ES"/>
        </a:p>
      </dgm:t>
    </dgm:pt>
    <dgm:pt modelId="{67004175-1054-4C75-948C-E209C861361A}" type="pres">
      <dgm:prSet presAssocID="{2DCE447C-B25B-4B9B-A727-53D35D2A38FD}" presName="Name0" presStyleCnt="0">
        <dgm:presLayoutVars>
          <dgm:dir/>
          <dgm:resizeHandles val="exact"/>
        </dgm:presLayoutVars>
      </dgm:prSet>
      <dgm:spPr/>
    </dgm:pt>
    <dgm:pt modelId="{7C518846-D171-44D7-8AF8-3C7FF6F364D9}" type="pres">
      <dgm:prSet presAssocID="{915C2B2D-E509-40E7-8BE7-1C9ECD8CF6EB}" presName="node" presStyleLbl="node1" presStyleIdx="0" presStyleCnt="6">
        <dgm:presLayoutVars>
          <dgm:bulletEnabled val="1"/>
        </dgm:presLayoutVars>
      </dgm:prSet>
      <dgm:spPr/>
    </dgm:pt>
    <dgm:pt modelId="{D98732B5-4DF4-4CF1-9CEF-A402894C8E79}" type="pres">
      <dgm:prSet presAssocID="{33E330F7-384A-4B3D-AB03-5EF83D4659CE}" presName="sibTrans" presStyleLbl="sibTrans2D1" presStyleIdx="0" presStyleCnt="5"/>
      <dgm:spPr/>
    </dgm:pt>
    <dgm:pt modelId="{E6D456C9-3ACB-40AE-9446-46CAF4CF7C55}" type="pres">
      <dgm:prSet presAssocID="{33E330F7-384A-4B3D-AB03-5EF83D4659CE}" presName="connectorText" presStyleLbl="sibTrans2D1" presStyleIdx="0" presStyleCnt="5"/>
      <dgm:spPr/>
    </dgm:pt>
    <dgm:pt modelId="{183A7FF6-15AF-484E-AE38-1B794455B344}" type="pres">
      <dgm:prSet presAssocID="{4DAE58ED-C09F-4160-A823-CFCD25D8F598}" presName="node" presStyleLbl="node1" presStyleIdx="1" presStyleCnt="6">
        <dgm:presLayoutVars>
          <dgm:bulletEnabled val="1"/>
        </dgm:presLayoutVars>
      </dgm:prSet>
      <dgm:spPr/>
    </dgm:pt>
    <dgm:pt modelId="{5A2C20BA-0E48-4DEC-8E63-FC03E7C1BF28}" type="pres">
      <dgm:prSet presAssocID="{EB553AB5-F119-4058-A7B7-C02E727BAA42}" presName="sibTrans" presStyleLbl="sibTrans2D1" presStyleIdx="1" presStyleCnt="5"/>
      <dgm:spPr/>
    </dgm:pt>
    <dgm:pt modelId="{D1D17DD5-3A57-436B-B2D8-2CB2BAEAB5EE}" type="pres">
      <dgm:prSet presAssocID="{EB553AB5-F119-4058-A7B7-C02E727BAA42}" presName="connectorText" presStyleLbl="sibTrans2D1" presStyleIdx="1" presStyleCnt="5"/>
      <dgm:spPr/>
    </dgm:pt>
    <dgm:pt modelId="{8FB3479E-E094-4F0E-A3B8-78D0AD804511}" type="pres">
      <dgm:prSet presAssocID="{5A931600-1966-4943-A5D5-5FBD45B21A50}" presName="node" presStyleLbl="node1" presStyleIdx="2" presStyleCnt="6">
        <dgm:presLayoutVars>
          <dgm:bulletEnabled val="1"/>
        </dgm:presLayoutVars>
      </dgm:prSet>
      <dgm:spPr/>
    </dgm:pt>
    <dgm:pt modelId="{488B66D7-4D01-495C-9510-4CB5434A230B}" type="pres">
      <dgm:prSet presAssocID="{C67EE0B2-3483-49AB-A106-68E82D9E7058}" presName="sibTrans" presStyleLbl="sibTrans2D1" presStyleIdx="2" presStyleCnt="5"/>
      <dgm:spPr/>
    </dgm:pt>
    <dgm:pt modelId="{64A97D76-59E3-410C-9A7C-369AC5817495}" type="pres">
      <dgm:prSet presAssocID="{C67EE0B2-3483-49AB-A106-68E82D9E7058}" presName="connectorText" presStyleLbl="sibTrans2D1" presStyleIdx="2" presStyleCnt="5"/>
      <dgm:spPr/>
    </dgm:pt>
    <dgm:pt modelId="{701DDCB4-CF8A-4C33-8FAA-B984C692D22C}" type="pres">
      <dgm:prSet presAssocID="{1CFA814C-1221-4029-B24B-6FDEC58156E7}" presName="node" presStyleLbl="node1" presStyleIdx="3" presStyleCnt="6">
        <dgm:presLayoutVars>
          <dgm:bulletEnabled val="1"/>
        </dgm:presLayoutVars>
      </dgm:prSet>
      <dgm:spPr/>
    </dgm:pt>
    <dgm:pt modelId="{DADC0763-1388-4CD6-A166-F7D463A7DC6A}" type="pres">
      <dgm:prSet presAssocID="{01791B72-ED47-40A3-B845-BA6B95E36FE2}" presName="sibTrans" presStyleLbl="sibTrans2D1" presStyleIdx="3" presStyleCnt="5"/>
      <dgm:spPr/>
    </dgm:pt>
    <dgm:pt modelId="{500FEBD0-5036-4F31-844F-2520F997D2BF}" type="pres">
      <dgm:prSet presAssocID="{01791B72-ED47-40A3-B845-BA6B95E36FE2}" presName="connectorText" presStyleLbl="sibTrans2D1" presStyleIdx="3" presStyleCnt="5"/>
      <dgm:spPr/>
    </dgm:pt>
    <dgm:pt modelId="{AB780DF8-BC2C-441E-A4DB-716D2A851F4F}" type="pres">
      <dgm:prSet presAssocID="{7C947615-45FF-4AC8-A782-7A687C74B3FF}" presName="node" presStyleLbl="node1" presStyleIdx="4" presStyleCnt="6">
        <dgm:presLayoutVars>
          <dgm:bulletEnabled val="1"/>
        </dgm:presLayoutVars>
      </dgm:prSet>
      <dgm:spPr/>
    </dgm:pt>
    <dgm:pt modelId="{542AF27F-37FA-4351-BE82-86E80B17D4C2}" type="pres">
      <dgm:prSet presAssocID="{2E05D3C3-6E06-4672-8B06-B6AB2F9C5D8A}" presName="sibTrans" presStyleLbl="sibTrans2D1" presStyleIdx="4" presStyleCnt="5"/>
      <dgm:spPr/>
    </dgm:pt>
    <dgm:pt modelId="{4B12A1D5-EC21-4D60-8435-79003F120B33}" type="pres">
      <dgm:prSet presAssocID="{2E05D3C3-6E06-4672-8B06-B6AB2F9C5D8A}" presName="connectorText" presStyleLbl="sibTrans2D1" presStyleIdx="4" presStyleCnt="5"/>
      <dgm:spPr/>
    </dgm:pt>
    <dgm:pt modelId="{FC5DD34A-7555-40D9-93B4-F788DEF4BC88}" type="pres">
      <dgm:prSet presAssocID="{E884898E-A0E8-46E4-B46D-6BFE3677D620}" presName="node" presStyleLbl="node1" presStyleIdx="5" presStyleCnt="6">
        <dgm:presLayoutVars>
          <dgm:bulletEnabled val="1"/>
        </dgm:presLayoutVars>
      </dgm:prSet>
      <dgm:spPr/>
    </dgm:pt>
  </dgm:ptLst>
  <dgm:cxnLst>
    <dgm:cxn modelId="{DE567C03-052D-44E8-AE23-F29FE5E89735}" type="presOf" srcId="{33E330F7-384A-4B3D-AB03-5EF83D4659CE}" destId="{D98732B5-4DF4-4CF1-9CEF-A402894C8E79}" srcOrd="0" destOrd="0" presId="urn:microsoft.com/office/officeart/2005/8/layout/process1"/>
    <dgm:cxn modelId="{EF8E4D1A-0A3C-4574-9161-E22D8B87D259}" type="presOf" srcId="{5A931600-1966-4943-A5D5-5FBD45B21A50}" destId="{8FB3479E-E094-4F0E-A3B8-78D0AD804511}" srcOrd="0" destOrd="0" presId="urn:microsoft.com/office/officeart/2005/8/layout/process1"/>
    <dgm:cxn modelId="{0E508C21-D2F1-4E6D-AF4D-871FD55B926C}" srcId="{2DCE447C-B25B-4B9B-A727-53D35D2A38FD}" destId="{1CFA814C-1221-4029-B24B-6FDEC58156E7}" srcOrd="3" destOrd="0" parTransId="{AB96A80E-64FA-49D0-AD5F-D4B146713E53}" sibTransId="{01791B72-ED47-40A3-B845-BA6B95E36FE2}"/>
    <dgm:cxn modelId="{C6EDD040-A088-412B-9CBE-82ABF2FB620B}" type="presOf" srcId="{EB553AB5-F119-4058-A7B7-C02E727BAA42}" destId="{D1D17DD5-3A57-436B-B2D8-2CB2BAEAB5EE}" srcOrd="1" destOrd="0" presId="urn:microsoft.com/office/officeart/2005/8/layout/process1"/>
    <dgm:cxn modelId="{BB85065C-4D9C-4E50-8672-A5B09A4969C0}" srcId="{2DCE447C-B25B-4B9B-A727-53D35D2A38FD}" destId="{E884898E-A0E8-46E4-B46D-6BFE3677D620}" srcOrd="5" destOrd="0" parTransId="{ACE52708-F139-494E-83E4-DBA4060E1F3D}" sibTransId="{1714CB0C-9C6B-4B8D-B9A2-2CCB047B254E}"/>
    <dgm:cxn modelId="{6E50AE5E-3767-450E-AAB9-A897CFF0D7CA}" type="presOf" srcId="{E884898E-A0E8-46E4-B46D-6BFE3677D620}" destId="{FC5DD34A-7555-40D9-93B4-F788DEF4BC88}" srcOrd="0" destOrd="0" presId="urn:microsoft.com/office/officeart/2005/8/layout/process1"/>
    <dgm:cxn modelId="{E2C6E35E-0D56-4292-B4C7-8F085DAD1882}" type="presOf" srcId="{01791B72-ED47-40A3-B845-BA6B95E36FE2}" destId="{DADC0763-1388-4CD6-A166-F7D463A7DC6A}" srcOrd="0" destOrd="0" presId="urn:microsoft.com/office/officeart/2005/8/layout/process1"/>
    <dgm:cxn modelId="{CA21C762-56C4-45A6-8EE1-FDAD0276EA8D}" type="presOf" srcId="{915C2B2D-E509-40E7-8BE7-1C9ECD8CF6EB}" destId="{7C518846-D171-44D7-8AF8-3C7FF6F364D9}" srcOrd="0" destOrd="0" presId="urn:microsoft.com/office/officeart/2005/8/layout/process1"/>
    <dgm:cxn modelId="{51B4F644-890B-4D85-AF8B-9C07274608FB}" type="presOf" srcId="{7C947615-45FF-4AC8-A782-7A687C74B3FF}" destId="{AB780DF8-BC2C-441E-A4DB-716D2A851F4F}" srcOrd="0" destOrd="0" presId="urn:microsoft.com/office/officeart/2005/8/layout/process1"/>
    <dgm:cxn modelId="{1CDF924E-1171-4DEB-9A65-F165EEBE2525}" type="presOf" srcId="{C67EE0B2-3483-49AB-A106-68E82D9E7058}" destId="{64A97D76-59E3-410C-9A7C-369AC5817495}" srcOrd="1" destOrd="0" presId="urn:microsoft.com/office/officeart/2005/8/layout/process1"/>
    <dgm:cxn modelId="{ECDE3853-BF66-4BEE-AAC4-D87490087F45}" type="presOf" srcId="{2DCE447C-B25B-4B9B-A727-53D35D2A38FD}" destId="{67004175-1054-4C75-948C-E209C861361A}" srcOrd="0" destOrd="0" presId="urn:microsoft.com/office/officeart/2005/8/layout/process1"/>
    <dgm:cxn modelId="{A0659953-55D2-4D59-A682-0F011940E1F3}" srcId="{2DCE447C-B25B-4B9B-A727-53D35D2A38FD}" destId="{4DAE58ED-C09F-4160-A823-CFCD25D8F598}" srcOrd="1" destOrd="0" parTransId="{96833040-91D2-4521-8353-5F1F7DDE1D97}" sibTransId="{EB553AB5-F119-4058-A7B7-C02E727BAA42}"/>
    <dgm:cxn modelId="{C03B157D-55B0-479D-B703-780559EA4967}" type="presOf" srcId="{33E330F7-384A-4B3D-AB03-5EF83D4659CE}" destId="{E6D456C9-3ACB-40AE-9446-46CAF4CF7C55}" srcOrd="1" destOrd="0" presId="urn:microsoft.com/office/officeart/2005/8/layout/process1"/>
    <dgm:cxn modelId="{D30AF78C-168B-42B6-A3CC-399BC9B6BAAD}" type="presOf" srcId="{C67EE0B2-3483-49AB-A106-68E82D9E7058}" destId="{488B66D7-4D01-495C-9510-4CB5434A230B}" srcOrd="0" destOrd="0" presId="urn:microsoft.com/office/officeart/2005/8/layout/process1"/>
    <dgm:cxn modelId="{13CE9699-B130-4708-8056-4A9C52647A35}" type="presOf" srcId="{EB553AB5-F119-4058-A7B7-C02E727BAA42}" destId="{5A2C20BA-0E48-4DEC-8E63-FC03E7C1BF28}" srcOrd="0" destOrd="0" presId="urn:microsoft.com/office/officeart/2005/8/layout/process1"/>
    <dgm:cxn modelId="{AD62D899-2B08-42DA-BFF1-041AC33117BC}" type="presOf" srcId="{2E05D3C3-6E06-4672-8B06-B6AB2F9C5D8A}" destId="{542AF27F-37FA-4351-BE82-86E80B17D4C2}" srcOrd="0" destOrd="0" presId="urn:microsoft.com/office/officeart/2005/8/layout/process1"/>
    <dgm:cxn modelId="{238F34A5-374A-4451-9C23-3E2320C88E15}" type="presOf" srcId="{2E05D3C3-6E06-4672-8B06-B6AB2F9C5D8A}" destId="{4B12A1D5-EC21-4D60-8435-79003F120B33}" srcOrd="1" destOrd="0" presId="urn:microsoft.com/office/officeart/2005/8/layout/process1"/>
    <dgm:cxn modelId="{545480AF-2F7D-4784-95CB-FADCE70EC534}" type="presOf" srcId="{4DAE58ED-C09F-4160-A823-CFCD25D8F598}" destId="{183A7FF6-15AF-484E-AE38-1B794455B344}" srcOrd="0" destOrd="0" presId="urn:microsoft.com/office/officeart/2005/8/layout/process1"/>
    <dgm:cxn modelId="{CEFB14C0-15F6-4DB6-81F5-F5A807B47F91}" srcId="{2DCE447C-B25B-4B9B-A727-53D35D2A38FD}" destId="{5A931600-1966-4943-A5D5-5FBD45B21A50}" srcOrd="2" destOrd="0" parTransId="{23314ACD-8BC2-4004-B85B-FF28F8AD9A77}" sibTransId="{C67EE0B2-3483-49AB-A106-68E82D9E7058}"/>
    <dgm:cxn modelId="{0FDCA4E5-4DD4-4989-9684-2F56F4A24B1B}" type="presOf" srcId="{1CFA814C-1221-4029-B24B-6FDEC58156E7}" destId="{701DDCB4-CF8A-4C33-8FAA-B984C692D22C}" srcOrd="0" destOrd="0" presId="urn:microsoft.com/office/officeart/2005/8/layout/process1"/>
    <dgm:cxn modelId="{4C1E18F1-402A-4756-99D9-380B24D72929}" type="presOf" srcId="{01791B72-ED47-40A3-B845-BA6B95E36FE2}" destId="{500FEBD0-5036-4F31-844F-2520F997D2BF}" srcOrd="1" destOrd="0" presId="urn:microsoft.com/office/officeart/2005/8/layout/process1"/>
    <dgm:cxn modelId="{C9D91CFA-4DCC-436B-A26C-1EBA1978546A}" srcId="{2DCE447C-B25B-4B9B-A727-53D35D2A38FD}" destId="{7C947615-45FF-4AC8-A782-7A687C74B3FF}" srcOrd="4" destOrd="0" parTransId="{AD40F296-93BB-4228-B6A3-F9582674791C}" sibTransId="{2E05D3C3-6E06-4672-8B06-B6AB2F9C5D8A}"/>
    <dgm:cxn modelId="{207229FB-C7C4-4DF0-8FAD-12E34BACFBB9}" srcId="{2DCE447C-B25B-4B9B-A727-53D35D2A38FD}" destId="{915C2B2D-E509-40E7-8BE7-1C9ECD8CF6EB}" srcOrd="0" destOrd="0" parTransId="{580C4FD0-3300-4F1E-AD0E-E16237C5D373}" sibTransId="{33E330F7-384A-4B3D-AB03-5EF83D4659CE}"/>
    <dgm:cxn modelId="{D69F6C71-E86C-47D1-901D-16CAA3C86BC5}" type="presParOf" srcId="{67004175-1054-4C75-948C-E209C861361A}" destId="{7C518846-D171-44D7-8AF8-3C7FF6F364D9}" srcOrd="0" destOrd="0" presId="urn:microsoft.com/office/officeart/2005/8/layout/process1"/>
    <dgm:cxn modelId="{F3C9B9E4-683E-46A3-A8C5-E58B6EB448DC}" type="presParOf" srcId="{67004175-1054-4C75-948C-E209C861361A}" destId="{D98732B5-4DF4-4CF1-9CEF-A402894C8E79}" srcOrd="1" destOrd="0" presId="urn:microsoft.com/office/officeart/2005/8/layout/process1"/>
    <dgm:cxn modelId="{07C0D426-1B27-42C9-B3CB-8D84EBE2375C}" type="presParOf" srcId="{D98732B5-4DF4-4CF1-9CEF-A402894C8E79}" destId="{E6D456C9-3ACB-40AE-9446-46CAF4CF7C55}" srcOrd="0" destOrd="0" presId="urn:microsoft.com/office/officeart/2005/8/layout/process1"/>
    <dgm:cxn modelId="{E02F1489-EEED-4E17-BAA5-2A22DA7C7C1F}" type="presParOf" srcId="{67004175-1054-4C75-948C-E209C861361A}" destId="{183A7FF6-15AF-484E-AE38-1B794455B344}" srcOrd="2" destOrd="0" presId="urn:microsoft.com/office/officeart/2005/8/layout/process1"/>
    <dgm:cxn modelId="{F4B84C3D-6186-4E5E-B66B-2E0107969513}" type="presParOf" srcId="{67004175-1054-4C75-948C-E209C861361A}" destId="{5A2C20BA-0E48-4DEC-8E63-FC03E7C1BF28}" srcOrd="3" destOrd="0" presId="urn:microsoft.com/office/officeart/2005/8/layout/process1"/>
    <dgm:cxn modelId="{7D6CD008-881F-455B-86F3-7E2EAC20284A}" type="presParOf" srcId="{5A2C20BA-0E48-4DEC-8E63-FC03E7C1BF28}" destId="{D1D17DD5-3A57-436B-B2D8-2CB2BAEAB5EE}" srcOrd="0" destOrd="0" presId="urn:microsoft.com/office/officeart/2005/8/layout/process1"/>
    <dgm:cxn modelId="{7EB79285-6362-47AB-B78C-24DB959AACA3}" type="presParOf" srcId="{67004175-1054-4C75-948C-E209C861361A}" destId="{8FB3479E-E094-4F0E-A3B8-78D0AD804511}" srcOrd="4" destOrd="0" presId="urn:microsoft.com/office/officeart/2005/8/layout/process1"/>
    <dgm:cxn modelId="{F6765BDE-F030-4DB1-89E2-24172E4A21D0}" type="presParOf" srcId="{67004175-1054-4C75-948C-E209C861361A}" destId="{488B66D7-4D01-495C-9510-4CB5434A230B}" srcOrd="5" destOrd="0" presId="urn:microsoft.com/office/officeart/2005/8/layout/process1"/>
    <dgm:cxn modelId="{ED4AB623-1EAF-4BE9-8DBE-5CBA8CFD854E}" type="presParOf" srcId="{488B66D7-4D01-495C-9510-4CB5434A230B}" destId="{64A97D76-59E3-410C-9A7C-369AC5817495}" srcOrd="0" destOrd="0" presId="urn:microsoft.com/office/officeart/2005/8/layout/process1"/>
    <dgm:cxn modelId="{8A8B805B-806C-43D4-B81B-A10CE5BAC6EB}" type="presParOf" srcId="{67004175-1054-4C75-948C-E209C861361A}" destId="{701DDCB4-CF8A-4C33-8FAA-B984C692D22C}" srcOrd="6" destOrd="0" presId="urn:microsoft.com/office/officeart/2005/8/layout/process1"/>
    <dgm:cxn modelId="{BA168C34-02FE-4785-8F43-836FF4573208}" type="presParOf" srcId="{67004175-1054-4C75-948C-E209C861361A}" destId="{DADC0763-1388-4CD6-A166-F7D463A7DC6A}" srcOrd="7" destOrd="0" presId="urn:microsoft.com/office/officeart/2005/8/layout/process1"/>
    <dgm:cxn modelId="{F6258AD0-E6C8-4B9F-81F2-CFDEC137B329}" type="presParOf" srcId="{DADC0763-1388-4CD6-A166-F7D463A7DC6A}" destId="{500FEBD0-5036-4F31-844F-2520F997D2BF}" srcOrd="0" destOrd="0" presId="urn:microsoft.com/office/officeart/2005/8/layout/process1"/>
    <dgm:cxn modelId="{AFD6BFFD-C6E1-498D-96EA-FBB328AC0AE8}" type="presParOf" srcId="{67004175-1054-4C75-948C-E209C861361A}" destId="{AB780DF8-BC2C-441E-A4DB-716D2A851F4F}" srcOrd="8" destOrd="0" presId="urn:microsoft.com/office/officeart/2005/8/layout/process1"/>
    <dgm:cxn modelId="{0ED879AC-EB1E-4ADC-A51D-13CBB0D6CBF8}" type="presParOf" srcId="{67004175-1054-4C75-948C-E209C861361A}" destId="{542AF27F-37FA-4351-BE82-86E80B17D4C2}" srcOrd="9" destOrd="0" presId="urn:microsoft.com/office/officeart/2005/8/layout/process1"/>
    <dgm:cxn modelId="{56697168-5C1F-482B-A739-5E8942E6E074}" type="presParOf" srcId="{542AF27F-37FA-4351-BE82-86E80B17D4C2}" destId="{4B12A1D5-EC21-4D60-8435-79003F120B33}" srcOrd="0" destOrd="0" presId="urn:microsoft.com/office/officeart/2005/8/layout/process1"/>
    <dgm:cxn modelId="{43FA7E3C-527D-4BDE-A2C9-C610E427B881}" type="presParOf" srcId="{67004175-1054-4C75-948C-E209C861361A}" destId="{FC5DD34A-7555-40D9-93B4-F788DEF4BC8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18846-D171-44D7-8AF8-3C7FF6F364D9}">
      <dsp:nvSpPr>
        <dsp:cNvPr id="0" name=""/>
        <dsp:cNvSpPr/>
      </dsp:nvSpPr>
      <dsp:spPr>
        <a:xfrm>
          <a:off x="0" y="1501357"/>
          <a:ext cx="1175657" cy="11628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El cliente inicia la conexión</a:t>
          </a:r>
        </a:p>
      </dsp:txBody>
      <dsp:txXfrm>
        <a:off x="34060" y="1535417"/>
        <a:ext cx="1107537" cy="1094764"/>
      </dsp:txXfrm>
    </dsp:sp>
    <dsp:sp modelId="{D98732B5-4DF4-4CF1-9CEF-A402894C8E79}">
      <dsp:nvSpPr>
        <dsp:cNvPr id="0" name=""/>
        <dsp:cNvSpPr/>
      </dsp:nvSpPr>
      <dsp:spPr>
        <a:xfrm>
          <a:off x="1293222" y="1937018"/>
          <a:ext cx="249239" cy="2915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1293222" y="1995330"/>
        <a:ext cx="174467" cy="174938"/>
      </dsp:txXfrm>
    </dsp:sp>
    <dsp:sp modelId="{183A7FF6-15AF-484E-AE38-1B794455B344}">
      <dsp:nvSpPr>
        <dsp:cNvPr id="0" name=""/>
        <dsp:cNvSpPr/>
      </dsp:nvSpPr>
      <dsp:spPr>
        <a:xfrm>
          <a:off x="1645919" y="1501357"/>
          <a:ext cx="1175657" cy="11628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El servidor acepta la </a:t>
          </a:r>
          <a:r>
            <a:rPr lang="es-ES" sz="1400" kern="1200" err="1"/>
            <a:t>conexió</a:t>
          </a:r>
          <a:r>
            <a:rPr lang="es-ES" sz="1400" kern="1200"/>
            <a:t>n</a:t>
          </a:r>
        </a:p>
      </dsp:txBody>
      <dsp:txXfrm>
        <a:off x="1679979" y="1535417"/>
        <a:ext cx="1107537" cy="1094764"/>
      </dsp:txXfrm>
    </dsp:sp>
    <dsp:sp modelId="{5A2C20BA-0E48-4DEC-8E63-FC03E7C1BF28}">
      <dsp:nvSpPr>
        <dsp:cNvPr id="0" name=""/>
        <dsp:cNvSpPr/>
      </dsp:nvSpPr>
      <dsp:spPr>
        <a:xfrm>
          <a:off x="2939142" y="1937018"/>
          <a:ext cx="249239" cy="2915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2939142" y="1995330"/>
        <a:ext cx="174467" cy="174938"/>
      </dsp:txXfrm>
    </dsp:sp>
    <dsp:sp modelId="{8FB3479E-E094-4F0E-A3B8-78D0AD804511}">
      <dsp:nvSpPr>
        <dsp:cNvPr id="0" name=""/>
        <dsp:cNvSpPr/>
      </dsp:nvSpPr>
      <dsp:spPr>
        <a:xfrm>
          <a:off x="3291839" y="1501357"/>
          <a:ext cx="1175657" cy="11628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El cliente </a:t>
          </a:r>
          <a:r>
            <a:rPr lang="es-ES" sz="1400" kern="1200" err="1"/>
            <a:t>envia</a:t>
          </a:r>
          <a:r>
            <a:rPr lang="es-ES" sz="1400" kern="1200"/>
            <a:t> una solicitud o mensaje</a:t>
          </a:r>
        </a:p>
      </dsp:txBody>
      <dsp:txXfrm>
        <a:off x="3325899" y="1535417"/>
        <a:ext cx="1107537" cy="1094764"/>
      </dsp:txXfrm>
    </dsp:sp>
    <dsp:sp modelId="{488B66D7-4D01-495C-9510-4CB5434A230B}">
      <dsp:nvSpPr>
        <dsp:cNvPr id="0" name=""/>
        <dsp:cNvSpPr/>
      </dsp:nvSpPr>
      <dsp:spPr>
        <a:xfrm>
          <a:off x="4585062" y="1937018"/>
          <a:ext cx="249239" cy="2915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4585062" y="1995330"/>
        <a:ext cx="174467" cy="174938"/>
      </dsp:txXfrm>
    </dsp:sp>
    <dsp:sp modelId="{701DDCB4-CF8A-4C33-8FAA-B984C692D22C}">
      <dsp:nvSpPr>
        <dsp:cNvPr id="0" name=""/>
        <dsp:cNvSpPr/>
      </dsp:nvSpPr>
      <dsp:spPr>
        <a:xfrm>
          <a:off x="4937759" y="1501357"/>
          <a:ext cx="1175657" cy="11628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El Hub procesa la solicitud</a:t>
          </a:r>
        </a:p>
      </dsp:txBody>
      <dsp:txXfrm>
        <a:off x="4971819" y="1535417"/>
        <a:ext cx="1107537" cy="1094764"/>
      </dsp:txXfrm>
    </dsp:sp>
    <dsp:sp modelId="{DADC0763-1388-4CD6-A166-F7D463A7DC6A}">
      <dsp:nvSpPr>
        <dsp:cNvPr id="0" name=""/>
        <dsp:cNvSpPr/>
      </dsp:nvSpPr>
      <dsp:spPr>
        <a:xfrm>
          <a:off x="6230982" y="1937018"/>
          <a:ext cx="249239" cy="2915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6230982" y="1995330"/>
        <a:ext cx="174467" cy="174938"/>
      </dsp:txXfrm>
    </dsp:sp>
    <dsp:sp modelId="{AB780DF8-BC2C-441E-A4DB-716D2A851F4F}">
      <dsp:nvSpPr>
        <dsp:cNvPr id="0" name=""/>
        <dsp:cNvSpPr/>
      </dsp:nvSpPr>
      <dsp:spPr>
        <a:xfrm>
          <a:off x="6583679" y="1501357"/>
          <a:ext cx="1175657" cy="11628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El servidor distribuye el mensaje</a:t>
          </a:r>
        </a:p>
      </dsp:txBody>
      <dsp:txXfrm>
        <a:off x="6617739" y="1535417"/>
        <a:ext cx="1107537" cy="1094764"/>
      </dsp:txXfrm>
    </dsp:sp>
    <dsp:sp modelId="{542AF27F-37FA-4351-BE82-86E80B17D4C2}">
      <dsp:nvSpPr>
        <dsp:cNvPr id="0" name=""/>
        <dsp:cNvSpPr/>
      </dsp:nvSpPr>
      <dsp:spPr>
        <a:xfrm>
          <a:off x="7876901" y="1937018"/>
          <a:ext cx="249239" cy="2915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7876901" y="1995330"/>
        <a:ext cx="174467" cy="174938"/>
      </dsp:txXfrm>
    </dsp:sp>
    <dsp:sp modelId="{FC5DD34A-7555-40D9-93B4-F788DEF4BC88}">
      <dsp:nvSpPr>
        <dsp:cNvPr id="0" name=""/>
        <dsp:cNvSpPr/>
      </dsp:nvSpPr>
      <dsp:spPr>
        <a:xfrm>
          <a:off x="8229599" y="1501357"/>
          <a:ext cx="1175657" cy="11628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Los clientes reciben la actualización en tiempo real</a:t>
          </a:r>
        </a:p>
      </dsp:txBody>
      <dsp:txXfrm>
        <a:off x="8263659" y="1535417"/>
        <a:ext cx="1107537" cy="1094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9E9BB-AC24-428C-8DF5-3E5FBABB66AC}" type="datetimeFigureOut">
              <a:t>29/06/2026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90AA9-85E1-457A-AEA3-29341D306F26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29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2415F-E026-10A0-2BAD-99ED7F0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44C9F-ED8D-74DC-2A56-C12053E86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627C4-C256-EFB9-D946-F909C63F8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21707-4037-0DF6-92D3-5B70ABE4B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49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FD4A-D208-55DB-4538-A14C8CDB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A250F-28F8-D50F-B007-4F76CE277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0CB7C-D276-3F28-D164-FB2A8FB9A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81D43-B8CF-22B5-9546-1DB690608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5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BF19-7BCA-8BDA-AC5D-E2B3BB03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1E611-AF84-2075-7EB6-B4D905E72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7A73D-0288-17E3-D430-32CDBF895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AF9A2-DC68-2541-4E10-9297D3F0F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55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3081-D22F-F344-34A1-D18C6535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DE8DC-DA5A-5268-AA47-B04444FAC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D0704-1C64-A65E-6C80-D9285A9CC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33F70-87E5-6E8D-F579-C358E01A1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88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08DA-0855-FF92-0885-046EF3D9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CF9D4-E870-B1E8-8090-7A264D97C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F6F26-3A07-5243-388C-15750CA41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98E49-3359-DCCD-6868-4A5BC790D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51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6577-B2A5-079C-4E1D-0E98CE08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F5DD5-6CE2-726A-1CC8-1058CEC98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5A19C-753E-37C5-6C46-9390E457C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05C1A-E57D-4DD6-65A4-89478EDF3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0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2ED7-C6D8-2C2E-2C3D-0F0CFD00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CE20F-B23A-8188-0141-290A9DD57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6EF35-22E6-17D0-F369-E4ABAEF23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D3778-16B9-70CF-0B09-C943C3852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21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30DF-7B50-C2BE-D5A4-6055500E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728A1-0884-CB19-5E61-3DF7A1D7D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3F597-AB25-A90F-0956-9E189E42E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1DBD1-1927-8B6F-82CE-21BDABBAE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28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0.png"/><Relationship Id="rId10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tPfeXsGsMXXaoX9dkUa8WzIx4Lv_JaJC/view?usp=sharin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1432" y="2240280"/>
            <a:ext cx="2377440" cy="237744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1463040"/>
            <a:ext cx="3931920" cy="393192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6952" y="685800"/>
            <a:ext cx="5486400" cy="548640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39712" y="-91440"/>
            <a:ext cx="7040880" cy="704088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62472" y="-868680"/>
            <a:ext cx="8595360" cy="8595360"/>
          </a:xfrm>
          <a:prstGeom prst="ellipse">
            <a:avLst/>
          </a:prstGeom>
          <a:solidFill>
            <a:srgbClr val="0F172A"/>
          </a:solidFill>
          <a:ln w="1778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WEB 3 · UNLaM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SignalR</a:t>
            </a:r>
            <a:endParaRPr lang="en-US" sz="720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tiempo real en el ecosistema ASP.NET Core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8288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Práctico</a:t>
            </a: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Investigación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Cristian Chazarreta   ·   Elias Tucci   ·   Franco Vargas   ·   Jesica Salva   ·   Martin Boga   ·   Mauricio Galvan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Introducción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a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SignalR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(1/2)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05098" y="1465218"/>
            <a:ext cx="10665096" cy="119379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8000"/>
              </a:lnSpc>
            </a:pPr>
            <a:r>
              <a:rPr lang="en-US" sz="1600" b="1" err="1">
                <a:solidFill>
                  <a:srgbClr val="334155"/>
                </a:solidFill>
                <a:ea typeface="+mn-lt"/>
                <a:cs typeface="+mn-lt"/>
              </a:rPr>
              <a:t>SignalR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es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una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biblioteca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de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ASP.NET Core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desarrollada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por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Microsoft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que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permite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la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comunicación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en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tiempo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real entre 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servidor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y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los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clientes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. Gracias a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SignalR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, 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servidor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puede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enviar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actualizaciones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de forma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inmediata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, sin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que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usuario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tenga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que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recargar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la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página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.</a:t>
            </a:r>
            <a:r>
              <a:rPr lang="en-US" sz="1450">
                <a:solidFill>
                  <a:srgbClr val="334155"/>
                </a:solidFill>
                <a:ea typeface="+mn-lt"/>
                <a:cs typeface="+mn-lt"/>
              </a:rPr>
              <a:t> </a:t>
            </a:r>
            <a:endParaRPr lang="es-ES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16" name="Text 1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40773C05-7029-5D1F-50AF-259B9E978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005571"/>
              </p:ext>
            </p:extLst>
          </p:nvPr>
        </p:nvGraphicFramePr>
        <p:xfrm>
          <a:off x="769257" y="2656114"/>
          <a:ext cx="10468348" cy="30581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234174">
                  <a:extLst>
                    <a:ext uri="{9D8B030D-6E8A-4147-A177-3AD203B41FA5}">
                      <a16:colId xmlns:a16="http://schemas.microsoft.com/office/drawing/2014/main" val="3563862881"/>
                    </a:ext>
                  </a:extLst>
                </a:gridCol>
                <a:gridCol w="5234174">
                  <a:extLst>
                    <a:ext uri="{9D8B030D-6E8A-4147-A177-3AD203B41FA5}">
                      <a16:colId xmlns:a16="http://schemas.microsoft.com/office/drawing/2014/main" val="4159010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/>
                        <a:t>Modelo Tradicional 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SignalR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52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El cliente inicia la comunicación enviando una solicitud al servidor.</a:t>
                      </a:r>
                      <a:endParaRPr lang="es-E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El cliente establece una conexión y el servidor puede enviar información cuando ocurre un cambio.</a:t>
                      </a:r>
                      <a:endParaRPr lang="es-E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887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Cada actualización requiere una nueva solicitud HTTP.</a:t>
                      </a:r>
                      <a:endParaRPr lang="es-E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La información se actualiza automáticamente en tiempo real.</a:t>
                      </a:r>
                      <a:endParaRPr lang="es-E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493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El usuario puede tener que actualizar la página para ver cambios.</a:t>
                      </a:r>
                      <a:endParaRPr lang="es-E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No es necesario actualizar la página.</a:t>
                      </a:r>
                      <a:endParaRPr lang="es-E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689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La comunicación es puntual: solicitud y respuesta.</a:t>
                      </a:r>
                      <a:endParaRPr lang="es-E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La comunicación es continua mientras la conexión permanezca activa.</a:t>
                      </a:r>
                      <a:endParaRPr lang="es-E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270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Es adecuado para aplicaciones donde la información cambia poco.</a:t>
                      </a:r>
                      <a:endParaRPr lang="es-E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Es ideal para aplicaciones que requieren información en tiempo real, como chats y notificaciones.</a:t>
                      </a:r>
                      <a:endParaRPr lang="es-E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9152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2827383" y="1693091"/>
            <a:ext cx="6874690" cy="4624253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85194" y="4395289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/home/claude/signalr-pptx/icons/desk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32" y="4581827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33634" y="5332549"/>
            <a:ext cx="28803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8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Cliente</a:t>
            </a:r>
            <a:r>
              <a:rPr lang="en-US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1</a:t>
            </a:r>
            <a:endParaRPr lang="en-US" sz="1800"/>
          </a:p>
        </p:txBody>
      </p:sp>
      <p:sp>
        <p:nvSpPr>
          <p:cNvPr id="11" name="Shape 8"/>
          <p:cNvSpPr/>
          <p:nvPr/>
        </p:nvSpPr>
        <p:spPr>
          <a:xfrm>
            <a:off x="5955938" y="4388032"/>
            <a:ext cx="777240" cy="7772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2" name="Image 1" descr="/home/claude/signalr-pptx/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476" y="4574570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04378" y="5325292"/>
            <a:ext cx="28803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Servidor</a:t>
            </a:r>
          </a:p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Hub</a:t>
            </a:r>
            <a:endParaRPr lang="en-US" sz="1800">
              <a:latin typeface="Cambria"/>
              <a:ea typeface="Cambria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182394" y="2348774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/home/claude/signalr-pptx/icon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932" y="2535312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30834" y="328603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</a:t>
            </a:r>
            <a:endParaRPr lang="en-US" sz="180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23" name="Text 1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7658886-5108-403B-46B0-4308C42B8822}"/>
              </a:ext>
            </a:extLst>
          </p:cNvPr>
          <p:cNvCxnSpPr/>
          <p:nvPr/>
        </p:nvCxnSpPr>
        <p:spPr>
          <a:xfrm flipV="1">
            <a:off x="4970236" y="2619710"/>
            <a:ext cx="2148113" cy="12817"/>
          </a:xfrm>
          <a:prstGeom prst="straightConnector1">
            <a:avLst/>
          </a:prstGeom>
          <a:ln>
            <a:solidFill>
              <a:srgbClr val="0D9488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2C4ADC1-AD8C-9D1E-3300-6E1AAF38A4C3}"/>
              </a:ext>
            </a:extLst>
          </p:cNvPr>
          <p:cNvCxnSpPr>
            <a:cxnSpLocks/>
          </p:cNvCxnSpPr>
          <p:nvPr/>
        </p:nvCxnSpPr>
        <p:spPr>
          <a:xfrm flipH="1">
            <a:off x="5064573" y="2799440"/>
            <a:ext cx="2082802" cy="8956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Shape 4">
            <a:extLst>
              <a:ext uri="{FF2B5EF4-FFF2-40B4-BE49-F238E27FC236}">
                <a16:creationId xmlns:a16="http://schemas.microsoft.com/office/drawing/2014/main" id="{29ADF135-E15A-F5F7-7CA6-17D83406C62B}"/>
              </a:ext>
            </a:extLst>
          </p:cNvPr>
          <p:cNvSpPr/>
          <p:nvPr/>
        </p:nvSpPr>
        <p:spPr>
          <a:xfrm>
            <a:off x="7574279" y="4460602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0" descr="/home/claude/signalr-pptx/icons/desktop_white.png">
            <a:extLst>
              <a:ext uri="{FF2B5EF4-FFF2-40B4-BE49-F238E27FC236}">
                <a16:creationId xmlns:a16="http://schemas.microsoft.com/office/drawing/2014/main" id="{B3B1F07C-97B2-0BB2-2888-72138F9FA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817" y="4647140"/>
            <a:ext cx="404165" cy="404165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FA4A98FE-33DC-CA87-FF24-C65468E7D568}"/>
              </a:ext>
            </a:extLst>
          </p:cNvPr>
          <p:cNvSpPr/>
          <p:nvPr/>
        </p:nvSpPr>
        <p:spPr>
          <a:xfrm>
            <a:off x="6522719" y="5397862"/>
            <a:ext cx="28803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8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Cliente</a:t>
            </a:r>
            <a:r>
              <a:rPr lang="en-US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 2</a:t>
            </a:r>
            <a:endParaRPr lang="en-US" sz="180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F3B522E1-61E3-B7EC-A63B-94276DFD9BE1}"/>
              </a:ext>
            </a:extLst>
          </p:cNvPr>
          <p:cNvSpPr/>
          <p:nvPr/>
        </p:nvSpPr>
        <p:spPr>
          <a:xfrm>
            <a:off x="4185193" y="233426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0" descr="/home/claude/signalr-pptx/icons/desktop_white.png">
            <a:extLst>
              <a:ext uri="{FF2B5EF4-FFF2-40B4-BE49-F238E27FC236}">
                <a16:creationId xmlns:a16="http://schemas.microsoft.com/office/drawing/2014/main" id="{99106C77-E58A-6BE6-8BFB-99F5A6E83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31" y="2520798"/>
            <a:ext cx="404165" cy="404165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E41A21A9-54B0-F752-9577-426D518C0897}"/>
              </a:ext>
            </a:extLst>
          </p:cNvPr>
          <p:cNvSpPr/>
          <p:nvPr/>
        </p:nvSpPr>
        <p:spPr>
          <a:xfrm>
            <a:off x="3133633" y="32715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80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31F59F4-E149-62CF-8C98-26DE2DE5B4D5}"/>
              </a:ext>
            </a:extLst>
          </p:cNvPr>
          <p:cNvCxnSpPr/>
          <p:nvPr/>
        </p:nvCxnSpPr>
        <p:spPr>
          <a:xfrm flipV="1">
            <a:off x="4949636" y="4769117"/>
            <a:ext cx="997323" cy="16212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E4EC3F4-2147-8BE7-E827-79CE89E789C0}"/>
              </a:ext>
            </a:extLst>
          </p:cNvPr>
          <p:cNvCxnSpPr>
            <a:cxnSpLocks/>
          </p:cNvCxnSpPr>
          <p:nvPr/>
        </p:nvCxnSpPr>
        <p:spPr>
          <a:xfrm flipV="1">
            <a:off x="6763921" y="4776373"/>
            <a:ext cx="801381" cy="1698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Text 1">
            <a:extLst>
              <a:ext uri="{FF2B5EF4-FFF2-40B4-BE49-F238E27FC236}">
                <a16:creationId xmlns:a16="http://schemas.microsoft.com/office/drawing/2014/main" id="{7DCA4187-311B-BF68-6BDF-865A0B053AE4}"/>
              </a:ext>
            </a:extLst>
          </p:cNvPr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Introducción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a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SignalR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(2/2)</a:t>
            </a:r>
            <a:endParaRPr lang="en-US" sz="320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8BC8894-4B5A-F687-6D7A-285E2C2CFC95}"/>
              </a:ext>
            </a:extLst>
          </p:cNvPr>
          <p:cNvSpPr txBox="1"/>
          <p:nvPr/>
        </p:nvSpPr>
        <p:spPr>
          <a:xfrm>
            <a:off x="2943875" y="1739347"/>
            <a:ext cx="25510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ea typeface="Calibri"/>
                <a:cs typeface="Calibri"/>
              </a:rPr>
              <a:t>Comunicación </a:t>
            </a:r>
            <a:r>
              <a:rPr lang="es-ES" err="1">
                <a:ea typeface="Calibri"/>
                <a:cs typeface="Calibri"/>
              </a:rPr>
              <a:t>Htpp</a:t>
            </a:r>
            <a:endParaRPr lang="es-ES">
              <a:ea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9682B6-7622-D74B-501C-7B8222FBCA4E}"/>
              </a:ext>
            </a:extLst>
          </p:cNvPr>
          <p:cNvSpPr txBox="1"/>
          <p:nvPr/>
        </p:nvSpPr>
        <p:spPr>
          <a:xfrm>
            <a:off x="2943874" y="4061632"/>
            <a:ext cx="25510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err="1">
                <a:ea typeface="Calibri"/>
                <a:cs typeface="Calibri"/>
              </a:rPr>
              <a:t>SignalR</a:t>
            </a:r>
            <a:endParaRPr lang="es-ES" err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E60743-E300-531B-B90B-7168C811045C}"/>
              </a:ext>
            </a:extLst>
          </p:cNvPr>
          <p:cNvSpPr txBox="1"/>
          <p:nvPr/>
        </p:nvSpPr>
        <p:spPr>
          <a:xfrm>
            <a:off x="5360503" y="2319916"/>
            <a:ext cx="14987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>
                <a:ea typeface="Calibri"/>
                <a:cs typeface="Calibri"/>
              </a:rPr>
              <a:t>Http </a:t>
            </a:r>
            <a:r>
              <a:rPr lang="es-ES" sz="1400" err="1">
                <a:ea typeface="Calibri"/>
                <a:cs typeface="Calibri"/>
              </a:rPr>
              <a:t>Request</a:t>
            </a:r>
            <a:endParaRPr lang="es-ES" sz="1400">
              <a:ea typeface="Calibri"/>
              <a:cs typeface="Calibri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9F92B1F-7AFF-5ED3-54E3-DFD5F9B9BF3F}"/>
              </a:ext>
            </a:extLst>
          </p:cNvPr>
          <p:cNvSpPr txBox="1"/>
          <p:nvPr/>
        </p:nvSpPr>
        <p:spPr>
          <a:xfrm>
            <a:off x="5360502" y="2842429"/>
            <a:ext cx="14987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>
                <a:ea typeface="Calibri"/>
                <a:cs typeface="Calibri"/>
              </a:rPr>
              <a:t>Http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B0F81-F2F0-0224-4565-55DBD81B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46FD81-9EF7-7184-60CF-8325D5257840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A778A9F-03F7-6650-DC7B-B9B94EF4B82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718873C-13C5-15F6-FC41-9FBB48B94C72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18E54FE-5271-7EC2-ADB4-0E1E09903A0F}"/>
              </a:ext>
            </a:extLst>
          </p:cNvPr>
          <p:cNvSpPr/>
          <p:nvPr/>
        </p:nvSpPr>
        <p:spPr>
          <a:xfrm>
            <a:off x="664754" y="700315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Arquitectura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y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funcionamiento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(1/2)</a:t>
            </a:r>
            <a:endParaRPr lang="en-US" sz="3200" b="1" err="1">
              <a:solidFill>
                <a:srgbClr val="0F172A"/>
              </a:solidFill>
              <a:latin typeface="Cambria"/>
              <a:ea typeface="Cambria"/>
            </a:endParaRP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E5B13615-044A-921C-69FD-F503077E84B1}"/>
              </a:ext>
            </a:extLst>
          </p:cNvPr>
          <p:cNvSpPr/>
          <p:nvPr/>
        </p:nvSpPr>
        <p:spPr>
          <a:xfrm>
            <a:off x="635727" y="1423271"/>
            <a:ext cx="2725784" cy="16829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5000"/>
              </a:lnSpc>
              <a:buFont typeface="Arial"/>
              <a:buChar char="•"/>
            </a:pPr>
            <a:endParaRPr lang="en-US" sz="1400">
              <a:solidFill>
                <a:srgbClr val="334155"/>
              </a:solidFill>
              <a:ea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19D83B-A26A-5113-2D13-F841ECB19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183" y="1712686"/>
            <a:ext cx="7267575" cy="2895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EA9DEC0-49C7-BDAF-920E-0F41BE04EBAE}"/>
              </a:ext>
            </a:extLst>
          </p:cNvPr>
          <p:cNvSpPr txBox="1"/>
          <p:nvPr/>
        </p:nvSpPr>
        <p:spPr>
          <a:xfrm>
            <a:off x="585106" y="1419678"/>
            <a:ext cx="3485243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E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err="1">
                <a:ea typeface="Calibri"/>
                <a:cs typeface="Calibri"/>
              </a:rPr>
              <a:t>Cliente:Aplicación</a:t>
            </a:r>
            <a:r>
              <a:rPr lang="es-ES">
                <a:ea typeface="Calibri"/>
                <a:cs typeface="Calibri"/>
              </a:rPr>
              <a:t> que se </a:t>
            </a:r>
            <a:r>
              <a:rPr lang="es-ES" err="1">
                <a:ea typeface="Calibri"/>
                <a:cs typeface="Calibri"/>
              </a:rPr>
              <a:t>conect</a:t>
            </a:r>
            <a:r>
              <a:rPr lang="es-ES">
                <a:ea typeface="Calibri"/>
                <a:cs typeface="Calibri"/>
              </a:rPr>
              <a:t>a al servidor que </a:t>
            </a:r>
            <a:r>
              <a:rPr lang="es-ES" err="1">
                <a:ea typeface="Calibri"/>
                <a:cs typeface="Calibri"/>
              </a:rPr>
              <a:t>envia</a:t>
            </a:r>
            <a:r>
              <a:rPr lang="es-ES">
                <a:ea typeface="Calibri"/>
                <a:cs typeface="Calibri"/>
              </a:rPr>
              <a:t> y recibe información en tiempo real </a:t>
            </a:r>
            <a:r>
              <a:rPr lang="es-ES">
                <a:ea typeface="+mn-lt"/>
                <a:cs typeface="+mn-lt"/>
              </a:rPr>
              <a:t>e invoca métodos del Hub y recibe mensajes automáticamente.</a:t>
            </a:r>
            <a:endParaRPr lang="es-ES">
              <a:ea typeface="Calibri"/>
              <a:cs typeface="Calibri"/>
            </a:endParaRPr>
          </a:p>
          <a:p>
            <a:endParaRPr lang="es-E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s-ES" err="1">
                <a:ea typeface="Calibri"/>
                <a:cs typeface="Calibri"/>
              </a:rPr>
              <a:t>Servidor:</a:t>
            </a:r>
            <a:r>
              <a:rPr lang="es-ES" err="1">
                <a:ea typeface="+mn-lt"/>
                <a:cs typeface="+mn-lt"/>
              </a:rPr>
              <a:t>Aloja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SignalR</a:t>
            </a:r>
            <a:r>
              <a:rPr lang="es-ES">
                <a:ea typeface="+mn-lt"/>
                <a:cs typeface="+mn-lt"/>
              </a:rPr>
              <a:t>, administra las conexiones y procesa las solicitudes de los clientes. Envía mensajes a clientes, usuarios o grupos.</a:t>
            </a:r>
            <a:endParaRPr lang="es-E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s-E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s-ES">
                <a:ea typeface="Calibri"/>
                <a:cs typeface="Calibri"/>
              </a:rPr>
              <a:t>Hub: </a:t>
            </a:r>
            <a:r>
              <a:rPr lang="es-ES">
                <a:ea typeface="+mn-lt"/>
                <a:cs typeface="+mn-lt"/>
              </a:rPr>
              <a:t>Componente central de </a:t>
            </a:r>
            <a:r>
              <a:rPr lang="es-ES" err="1">
                <a:ea typeface="+mn-lt"/>
                <a:cs typeface="+mn-lt"/>
              </a:rPr>
              <a:t>SignalR</a:t>
            </a:r>
            <a:r>
              <a:rPr lang="es-ES">
                <a:ea typeface="+mn-lt"/>
                <a:cs typeface="+mn-lt"/>
              </a:rPr>
              <a:t>. Este recibe solicitudes de los clientes y distribuye mensajes a uno o varios clientes</a:t>
            </a:r>
            <a:endParaRPr lang="es-E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s-E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s-E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s-E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9315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E339A-3445-1851-374E-C8121DFB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5D5C3A-267D-569A-A6A7-6DC0D70EB64B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A2BEF4F-4A05-B069-FF25-2E7B2DB8659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334E1EE-84CF-F5BC-D4A3-BFA9F718C667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D76BACF5-39C3-EE67-802E-0FA520EA1299}"/>
              </a:ext>
            </a:extLst>
          </p:cNvPr>
          <p:cNvSpPr/>
          <p:nvPr/>
        </p:nvSpPr>
        <p:spPr>
          <a:xfrm>
            <a:off x="664754" y="700315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Arquitectura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y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funcionamiento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(2/2)</a:t>
            </a:r>
            <a:endParaRPr lang="en-US" sz="3200" b="1" err="1">
              <a:solidFill>
                <a:srgbClr val="0F172A"/>
              </a:solidFill>
              <a:latin typeface="Cambria"/>
              <a:ea typeface="Cambria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1F8685-A61F-C626-15DC-36ED87CCDCA7}"/>
              </a:ext>
            </a:extLst>
          </p:cNvPr>
          <p:cNvSpPr txBox="1"/>
          <p:nvPr/>
        </p:nvSpPr>
        <p:spPr>
          <a:xfrm>
            <a:off x="870856" y="1687286"/>
            <a:ext cx="34970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ea typeface="Calibri"/>
                <a:cs typeface="Calibri"/>
              </a:rPr>
              <a:t>Funcionamiento</a:t>
            </a:r>
            <a:endParaRPr lang="es-ES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95AA564-917E-0244-AA40-08E6CA1CD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1785767"/>
              </p:ext>
            </p:extLst>
          </p:nvPr>
        </p:nvGraphicFramePr>
        <p:xfrm>
          <a:off x="870858" y="1055914"/>
          <a:ext cx="9405256" cy="41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693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Desarrollo de la </a:t>
            </a:r>
            <a:r>
              <a:rPr lang="en-US" sz="1200" b="1" kern="0" spc="200" err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investigación</a:t>
            </a:r>
            <a:endParaRPr lang="es-ES" err="1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</a:rPr>
              <a:t>Componentes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</a:rPr>
              <a:t>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</a:rPr>
              <a:t>Principales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</a:rPr>
              <a:t>  (1/3)</a:t>
            </a:r>
            <a:endParaRPr lang="es-ES" err="1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1760220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/home/claude/signalr-pptx/icons/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86" y="19028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846909" y="2345509"/>
            <a:ext cx="47548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Componente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central: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administra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comunicación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entre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 A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través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él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invocan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métodos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68680" y="3246120"/>
            <a:ext cx="4754880" cy="260604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383280"/>
            <a:ext cx="4434840" cy="2331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using </a:t>
            </a:r>
            <a:r>
              <a:rPr lang="en-US" sz="14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Microsoft.AspNetCore.SignalR</a:t>
            </a: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;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public class </a:t>
            </a:r>
            <a:r>
              <a:rPr lang="en-US" sz="14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ChatHub</a:t>
            </a: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: Hub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{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 // Código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400">
              <a:latin typeface="Courier New"/>
              <a:ea typeface="Calibri"/>
              <a:cs typeface="Courier New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6540" y="17602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/home/claude/signalr-pptx/icons/pl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186" y="19028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42632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HubConnection</a:t>
            </a:r>
            <a:endParaRPr lang="en-US" sz="1800"/>
          </a:p>
        </p:txBody>
      </p:sp>
      <p:sp>
        <p:nvSpPr>
          <p:cNvPr id="15" name="Text 11"/>
          <p:cNvSpPr/>
          <p:nvPr/>
        </p:nvSpPr>
        <p:spPr>
          <a:xfrm>
            <a:off x="6583680" y="24688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la conexión que establece el cliente con el Hub del servidor, permitiendo enviar y recibir actualizaciones en tiempo real.</a:t>
            </a:r>
            <a:endParaRPr lang="en-US" sz="1250"/>
          </a:p>
        </p:txBody>
      </p:sp>
      <p:sp>
        <p:nvSpPr>
          <p:cNvPr id="16" name="Shape 12"/>
          <p:cNvSpPr/>
          <p:nvPr/>
        </p:nvSpPr>
        <p:spPr>
          <a:xfrm>
            <a:off x="6583680" y="3246120"/>
            <a:ext cx="4754880" cy="260604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/>
        </p:spPr>
      </p:sp>
      <p:sp>
        <p:nvSpPr>
          <p:cNvPr id="17" name="Text 13"/>
          <p:cNvSpPr/>
          <p:nvPr/>
        </p:nvSpPr>
        <p:spPr>
          <a:xfrm>
            <a:off x="6766560" y="3383280"/>
            <a:ext cx="4434840" cy="2377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const connection = new </a:t>
            </a:r>
            <a:r>
              <a:rPr lang="en-US" sz="14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signalR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.</a:t>
            </a:r>
            <a:r>
              <a:rPr lang="en-US" sz="14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HubConnectionBuilder</a:t>
            </a: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()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.</a:t>
            </a:r>
            <a:r>
              <a:rPr lang="en-US" sz="14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withUrl</a:t>
            </a: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("https://localhost:5001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         /</a:t>
            </a:r>
            <a:r>
              <a:rPr lang="en-US" sz="14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chatHub</a:t>
            </a: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")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.build();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endParaRPr lang="en-US" sz="14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await </a:t>
            </a:r>
            <a:r>
              <a:rPr lang="en-US" sz="14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connection.start</a:t>
            </a:r>
            <a:r>
              <a:rPr lang="en-US" sz="14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();</a:t>
            </a:r>
            <a:endParaRPr lang="en-US" sz="1400">
              <a:latin typeface="Courier New"/>
              <a:ea typeface="Calibri"/>
              <a:cs typeface="Courier New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19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Desarrollo de </a:t>
            </a:r>
            <a:r>
              <a:rPr lang="en-US" sz="1200" b="1" kern="0" spc="200" err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investigacion</a:t>
            </a:r>
            <a:endParaRPr lang="es-ES" err="1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</a:rPr>
              <a:t>Componentes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</a:rPr>
              <a:t>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</a:rPr>
              <a:t>Principales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</a:rPr>
              <a:t> (2/3)</a:t>
            </a:r>
            <a:endParaRPr lang="en-US" sz="3200" err="1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/home/claude/signalr-pptx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83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IHubContext</a:t>
            </a:r>
            <a:endParaRPr lang="en-US" sz="1650"/>
          </a:p>
        </p:txBody>
      </p:sp>
      <p:sp>
        <p:nvSpPr>
          <p:cNvPr id="8" name="Text 5"/>
          <p:cNvSpPr/>
          <p:nvPr/>
        </p:nvSpPr>
        <p:spPr>
          <a:xfrm>
            <a:off x="868680" y="2294128"/>
            <a:ext cx="47548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enviar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mensajes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desde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cualquier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parte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de la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aplicación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, sin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necesidad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estar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dentro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del Hub (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ejemplo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desde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un Controller).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68680" y="3154680"/>
            <a:ext cx="4754880" cy="2697480"/>
          </a:xfrm>
          <a:prstGeom prst="roundRect">
            <a:avLst>
              <a:gd name="adj" fmla="val 2034"/>
            </a:avLst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246120"/>
            <a:ext cx="452628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public class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ChatController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: Controller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{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 private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readonly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IHubContext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&lt;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ChatHub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&gt; _hub;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public async Task&lt;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IActionResult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&gt;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Notificar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()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{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 await _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hub.Clients.All.SendAsync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   "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RecibirMensaje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", "Sistema", "Aviso");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   return Ok();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}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200">
              <a:latin typeface="Courier New"/>
              <a:cs typeface="Courier New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/home/claude/signalr-pptx/icons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74" y="18690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7768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del servidor</a:t>
            </a:r>
            <a:endParaRPr lang="en-US" sz="1650"/>
          </a:p>
        </p:txBody>
      </p:sp>
      <p:sp>
        <p:nvSpPr>
          <p:cNvPr id="15" name="Text 11"/>
          <p:cNvSpPr/>
          <p:nvPr/>
        </p:nvSpPr>
        <p:spPr>
          <a:xfrm>
            <a:off x="6583680" y="2308642"/>
            <a:ext cx="47548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Definidos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dentro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del Hub,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pueden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ser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invocados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Contienen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lógica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procesar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solicitud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distribuir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 un </a:t>
            </a:r>
            <a:r>
              <a:rPr lang="en-US" sz="1400" err="1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mensaje</a:t>
            </a:r>
            <a:r>
              <a:rPr lang="en-US" sz="140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583680" y="3154680"/>
            <a:ext cx="4754880" cy="2697480"/>
          </a:xfrm>
          <a:prstGeom prst="roundRect">
            <a:avLst>
              <a:gd name="adj" fmla="val 2034"/>
            </a:avLst>
          </a:prstGeom>
          <a:solidFill>
            <a:srgbClr val="16213E"/>
          </a:solidFill>
          <a:ln/>
        </p:spPr>
      </p:sp>
      <p:sp>
        <p:nvSpPr>
          <p:cNvPr id="17" name="Text 13"/>
          <p:cNvSpPr/>
          <p:nvPr/>
        </p:nvSpPr>
        <p:spPr>
          <a:xfrm>
            <a:off x="6766560" y="3291840"/>
            <a:ext cx="4480560" cy="246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public class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ChatHub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: Hub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{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public async Task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EnviarMensaje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   string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usuario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, string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mensaje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{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 await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Clients.All.SendAsync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   "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RecibirMensaje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",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   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usuario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12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mensaje</a:t>
            </a: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);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}</a:t>
            </a:r>
            <a:endParaRPr lang="en-US" sz="12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200">
              <a:latin typeface="Courier New"/>
              <a:ea typeface="Calibri"/>
              <a:cs typeface="Courier New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19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CC71D-38CF-444B-9EB9-27CA95556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41B04B-A71A-F606-200F-F27FD877DAF8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Desarrollo de </a:t>
            </a:r>
            <a:r>
              <a:rPr lang="en-US" sz="1200" b="1" kern="0" spc="200" err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investigacion</a:t>
            </a:r>
            <a:endParaRPr lang="es-ES" err="1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70E8B1-BE2C-2278-D0C1-8DF4B945DA9F}"/>
              </a:ext>
            </a:extLst>
          </p:cNvPr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</a:rPr>
              <a:t>Componentes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</a:rPr>
              <a:t>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</a:rPr>
              <a:t>Principales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</a:rPr>
              <a:t> (3/3)</a:t>
            </a:r>
            <a:endParaRPr lang="en-US" sz="3200" err="1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92361F-45B0-E831-A103-D53CCF282A47}"/>
              </a:ext>
            </a:extLst>
          </p:cNvPr>
          <p:cNvSpPr/>
          <p:nvPr/>
        </p:nvSpPr>
        <p:spPr>
          <a:xfrm>
            <a:off x="534126" y="1554480"/>
            <a:ext cx="10951754" cy="3539309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2E9A9CC-CD6D-2E26-0CAD-303BFB48ECAA}"/>
              </a:ext>
            </a:extLst>
          </p:cNvPr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/home/claude/signalr-pptx/icons/network_white.png">
            <a:extLst>
              <a:ext uri="{FF2B5EF4-FFF2-40B4-BE49-F238E27FC236}">
                <a16:creationId xmlns:a16="http://schemas.microsoft.com/office/drawing/2014/main" id="{DAF9122B-8500-EFCA-754B-7FDE2D0EF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1869034"/>
            <a:ext cx="285293" cy="285293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C7B7DF75-2F2E-C116-B75B-8693499F58E0}"/>
              </a:ext>
            </a:extLst>
          </p:cNvPr>
          <p:cNvSpPr/>
          <p:nvPr/>
        </p:nvSpPr>
        <p:spPr>
          <a:xfrm>
            <a:off x="1572768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ES" b="1">
                <a:solidFill>
                  <a:srgbClr val="0F172A"/>
                </a:solidFill>
                <a:latin typeface="Cambria"/>
                <a:ea typeface="Cambria"/>
              </a:rPr>
              <a:t>Métodos del cliente </a:t>
            </a:r>
            <a:endParaRPr lang="en-US" b="1">
              <a:solidFill>
                <a:srgbClr val="0F172A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571CFCE-2A83-66AA-74CC-4335F8BC85C5}"/>
              </a:ext>
            </a:extLst>
          </p:cNvPr>
          <p:cNvSpPr/>
          <p:nvPr/>
        </p:nvSpPr>
        <p:spPr>
          <a:xfrm>
            <a:off x="1325879" y="2424757"/>
            <a:ext cx="3659053" cy="2453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14999"/>
              </a:lnSpc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Los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métodos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del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cliente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son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aquellos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que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servidor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invoca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para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enviar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información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a las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aplicaciones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conectadas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. En 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cliente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,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estos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métodos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se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registran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mediante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connection.on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(),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indicando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nombre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del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método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que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será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ejecutado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cuando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el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servidor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envíe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un </a:t>
            </a:r>
            <a:r>
              <a:rPr lang="en-US" sz="1600" err="1">
                <a:solidFill>
                  <a:srgbClr val="334155"/>
                </a:solidFill>
                <a:ea typeface="+mn-lt"/>
                <a:cs typeface="+mn-lt"/>
              </a:rPr>
              <a:t>mensaje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</a:t>
            </a:r>
            <a:br>
              <a:rPr lang="en-US" sz="1600">
                <a:ea typeface="+mn-lt"/>
                <a:cs typeface="+mn-lt"/>
              </a:rPr>
            </a:br>
            <a:endParaRPr lang="en-US" sz="1600">
              <a:solidFill>
                <a:srgbClr val="334155"/>
              </a:solidFill>
              <a:ea typeface="+mn-lt"/>
              <a:cs typeface="+mn-lt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B0195B1-2791-4CFC-9B73-0BC61C34E6D7}"/>
              </a:ext>
            </a:extLst>
          </p:cNvPr>
          <p:cNvSpPr/>
          <p:nvPr/>
        </p:nvSpPr>
        <p:spPr>
          <a:xfrm>
            <a:off x="5984965" y="1942737"/>
            <a:ext cx="4754880" cy="2697480"/>
          </a:xfrm>
          <a:prstGeom prst="roundRect">
            <a:avLst>
              <a:gd name="adj" fmla="val 2034"/>
            </a:avLst>
          </a:prstGeom>
          <a:solidFill>
            <a:srgbClr val="0F172A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2A4BA2B-8EF9-3C95-B2C4-6A9B1D01A354}"/>
              </a:ext>
            </a:extLst>
          </p:cNvPr>
          <p:cNvSpPr/>
          <p:nvPr/>
        </p:nvSpPr>
        <p:spPr>
          <a:xfrm>
            <a:off x="6122125" y="2034177"/>
            <a:ext cx="452628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const </a:t>
            </a:r>
            <a:r>
              <a:rPr lang="en-US" sz="1600" err="1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conexion</a:t>
            </a: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 = new </a:t>
            </a:r>
            <a:r>
              <a:rPr lang="en-US" sz="1600" err="1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signalR.HubConnectionBuilder</a:t>
            </a: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() .</a:t>
            </a:r>
            <a:r>
              <a:rPr lang="en-US" sz="1600" err="1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withUrl</a:t>
            </a: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("/hubs/chat")</a:t>
            </a:r>
            <a:endParaRPr lang="es-ES" sz="1600">
              <a:latin typeface="Consolas"/>
              <a:ea typeface="Calibri"/>
              <a:cs typeface="Calibri"/>
            </a:endParaRPr>
          </a:p>
          <a:p>
            <a:pPr>
              <a:buNone/>
            </a:pP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.build();</a:t>
            </a:r>
            <a:endParaRPr lang="en-US" sz="1600">
              <a:latin typeface="Consolas"/>
              <a:ea typeface="+mn-lt"/>
              <a:cs typeface="+mn-lt"/>
            </a:endParaRPr>
          </a:p>
          <a:p>
            <a:endParaRPr lang="en-US" sz="1600">
              <a:solidFill>
                <a:srgbClr val="99F6E4"/>
              </a:solidFill>
              <a:latin typeface="Consolas"/>
              <a:ea typeface="+mn-lt"/>
              <a:cs typeface="+mn-lt"/>
            </a:endParaRPr>
          </a:p>
          <a:p>
            <a:r>
              <a:rPr lang="en-US" sz="1600" err="1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conexion.on</a:t>
            </a: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("</a:t>
            </a:r>
            <a:r>
              <a:rPr lang="en-US" sz="1600" err="1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NuevaNotificacion</a:t>
            </a: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", function (data) { </a:t>
            </a:r>
            <a:r>
              <a:rPr lang="en-US" sz="1600" err="1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agregarNotificacion</a:t>
            </a: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(data);</a:t>
            </a:r>
            <a:endParaRPr lang="en-US" sz="1600">
              <a:latin typeface="Consolas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600">
                <a:solidFill>
                  <a:srgbClr val="99F6E4"/>
                </a:solidFill>
                <a:latin typeface="Consolas"/>
                <a:ea typeface="+mn-lt"/>
                <a:cs typeface="+mn-lt"/>
              </a:rPr>
              <a:t>}); </a:t>
            </a:r>
            <a:br>
              <a:rPr lang="en-US" sz="1200">
                <a:solidFill>
                  <a:srgbClr val="99F6E4"/>
                </a:solidFill>
                <a:ea typeface="+mn-lt"/>
                <a:cs typeface="+mn-lt"/>
              </a:rPr>
            </a:br>
            <a:endParaRPr lang="en-US" sz="1200">
              <a:solidFill>
                <a:srgbClr val="99F6E4"/>
              </a:solidFill>
              <a:ea typeface="+mn-lt"/>
              <a:cs typeface="+mn-lt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C21253A-BD4C-E5AA-70CB-24CCB6698DD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2D269F6-3384-4F5E-DB45-3E08D255115F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1848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conexiones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conectado recibe un ConnectionId único. SignalR expone eventos del ciclo de vida de la conexión para reaccionar cuando un cliente entra o sale.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491740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/home/claude/signalr-pptx/icons/hash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886" y="26343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ConnectionId</a:t>
            </a:r>
            <a:endParaRPr lang="en-US" sz="145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asignado a cada conexión, usado por el servidor para identificar al cliente.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731520" y="4526280"/>
            <a:ext cx="2971800" cy="146304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617720"/>
            <a:ext cx="27889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public override async Task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OnConnectedAsync</a:t>
            </a: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()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{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var id =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11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Context.ConnectionId</a:t>
            </a: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;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100">
              <a:latin typeface="Courier New"/>
              <a:cs typeface="Courier New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78808" y="224028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50408" y="24917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/home/claude/signalr-pptx/icons/sign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054" y="2634386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70248" y="32004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OnConnectedAsync()</a:t>
            </a:r>
            <a:endParaRPr lang="en-US" sz="1350"/>
          </a:p>
        </p:txBody>
      </p:sp>
      <p:sp>
        <p:nvSpPr>
          <p:cNvPr id="16" name="Text 12"/>
          <p:cNvSpPr/>
          <p:nvPr/>
        </p:nvSpPr>
        <p:spPr>
          <a:xfrm>
            <a:off x="4590288" y="36118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usuarios</a:t>
            </a:r>
            <a:endParaRPr lang="en-US" sz="115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Agregarlos a grupos</a:t>
            </a:r>
            <a:endParaRPr lang="en-US" sz="115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conexión</a:t>
            </a:r>
            <a:endParaRPr lang="en-US" sz="1150"/>
          </a:p>
        </p:txBody>
      </p:sp>
      <p:sp>
        <p:nvSpPr>
          <p:cNvPr id="17" name="Shape 13"/>
          <p:cNvSpPr/>
          <p:nvPr/>
        </p:nvSpPr>
        <p:spPr>
          <a:xfrm>
            <a:off x="4361688" y="4526280"/>
            <a:ext cx="2971800" cy="1463040"/>
          </a:xfrm>
          <a:prstGeom prst="roundRect">
            <a:avLst>
              <a:gd name="adj" fmla="val 3125"/>
            </a:avLst>
          </a:prstGeom>
          <a:solidFill>
            <a:srgbClr val="16213E"/>
          </a:solidFill>
          <a:ln/>
        </p:spPr>
      </p:sp>
      <p:sp>
        <p:nvSpPr>
          <p:cNvPr id="18" name="Text 14"/>
          <p:cNvSpPr/>
          <p:nvPr/>
        </p:nvSpPr>
        <p:spPr>
          <a:xfrm>
            <a:off x="4471416" y="4548632"/>
            <a:ext cx="2788920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public override async Task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OnConnectedAsync</a:t>
            </a: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()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{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1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Console.WriteLine</a:t>
            </a: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"</a:t>
            </a:r>
            <a:r>
              <a:rPr lang="en-US" sz="11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Conectado</a:t>
            </a: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");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await base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.</a:t>
            </a:r>
            <a:r>
              <a:rPr lang="en-US" sz="11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OnConnectedAsync</a:t>
            </a: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();</a:t>
            </a:r>
            <a:endParaRPr lang="en-US" sz="11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100">
              <a:latin typeface="Courier New"/>
              <a:cs typeface="Courier New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808976" y="2240280"/>
            <a:ext cx="3337560" cy="393192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180576" y="2491740"/>
            <a:ext cx="594360" cy="59436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1" name="Image 2" descr="/home/claude/signalr-pptx/icons/signou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222" y="2634386"/>
            <a:ext cx="309067" cy="3090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54696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OnDisconnectedAsync()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8220456" y="36118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usuarios</a:t>
            </a:r>
            <a:endParaRPr lang="en-US" sz="115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Sacarlos de grupos</a:t>
            </a:r>
            <a:endParaRPr lang="en-US" sz="115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recursos</a:t>
            </a:r>
            <a:endParaRPr lang="en-US" sz="1150"/>
          </a:p>
        </p:txBody>
      </p:sp>
      <p:sp>
        <p:nvSpPr>
          <p:cNvPr id="24" name="Shape 19"/>
          <p:cNvSpPr/>
          <p:nvPr/>
        </p:nvSpPr>
        <p:spPr>
          <a:xfrm>
            <a:off x="7991856" y="4526280"/>
            <a:ext cx="2971800" cy="146304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/>
        </p:spPr>
      </p:sp>
      <p:sp>
        <p:nvSpPr>
          <p:cNvPr id="25" name="Text 20"/>
          <p:cNvSpPr/>
          <p:nvPr/>
        </p:nvSpPr>
        <p:spPr>
          <a:xfrm>
            <a:off x="8101584" y="4617720"/>
            <a:ext cx="27889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public override async Task</a:t>
            </a:r>
            <a:endParaRPr lang="en-US" sz="10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</a:t>
            </a:r>
            <a:r>
              <a:rPr lang="en-US" sz="10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OnDisconnectedAsync</a:t>
            </a: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endParaRPr lang="en-US" sz="10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Exception? ex)</a:t>
            </a:r>
            <a:endParaRPr lang="en-US" sz="10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{</a:t>
            </a:r>
            <a:endParaRPr lang="en-US" sz="10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await base</a:t>
            </a:r>
            <a:endParaRPr lang="en-US" sz="10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  .</a:t>
            </a:r>
            <a:r>
              <a:rPr lang="en-US" sz="1000" err="1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OnDisconnectedAsync</a:t>
            </a: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(ex);</a:t>
            </a:r>
            <a:endParaRPr lang="en-US" sz="1000">
              <a:latin typeface="Courier New"/>
              <a:ea typeface="Calibri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99F6E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000">
              <a:latin typeface="Courier New"/>
              <a:cs typeface="Courier New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27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Protocolos de transporte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selecciona automáticamente el mecanismo más adecuado según las capacidades del cliente, el servidor y el navegador, en este orden de preferencia: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337560" cy="3977640"/>
          </a:xfrm>
          <a:prstGeom prst="roundRect">
            <a:avLst>
              <a:gd name="adj" fmla="val 1918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8326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PREFERIDO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678543" y="256815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WebSockets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79418" y="3275874"/>
            <a:ext cx="2861490" cy="23963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buFont typeface="Arial"/>
              <a:buChar char="•"/>
            </a:pP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Es el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protocolo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transporte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preferido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por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SignalR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 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Permite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establecer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conexión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bidireccional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y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permanente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entre el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cliente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y el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servidor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. </a:t>
            </a:r>
          </a:p>
          <a:p>
            <a:pPr>
              <a:buFont typeface="Arial"/>
              <a:buChar char="•"/>
            </a:pP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Una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vez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creada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la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conexión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, ambas partes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pueden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enviar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y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recibir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mensajes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en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cualquier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momento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sin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necesidad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abrir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nuevas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conexiones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Ofrece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la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menor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latencia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y el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mejor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2E8F0"/>
                </a:solidFill>
                <a:ea typeface="+mn-lt"/>
                <a:cs typeface="+mn-lt"/>
              </a:rPr>
              <a:t>rendimiento</a:t>
            </a:r>
            <a:r>
              <a:rPr lang="en-US" sz="1400">
                <a:solidFill>
                  <a:srgbClr val="E2E8F0"/>
                </a:solidFill>
                <a:ea typeface="+mn-lt"/>
                <a:cs typeface="+mn-lt"/>
              </a:rPr>
              <a:t>. </a:t>
            </a:r>
            <a:br>
              <a:rPr lang="en-US" sz="1200">
                <a:solidFill>
                  <a:srgbClr val="E2E8F0"/>
                </a:solidFill>
                <a:ea typeface="+mn-lt"/>
                <a:cs typeface="+mn-lt"/>
              </a:rPr>
            </a:br>
            <a:endParaRPr lang="en-US" sz="1200">
              <a:solidFill>
                <a:srgbClr val="E2E8F0"/>
              </a:solidFill>
              <a:ea typeface="+mn-lt"/>
              <a:cs typeface="+mn-l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178808" y="2194560"/>
            <a:ext cx="3337560" cy="3977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361688" y="284538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1050"/>
          </a:p>
        </p:txBody>
      </p:sp>
      <p:sp>
        <p:nvSpPr>
          <p:cNvPr id="15" name="Text 11"/>
          <p:cNvSpPr/>
          <p:nvPr/>
        </p:nvSpPr>
        <p:spPr>
          <a:xfrm>
            <a:off x="4359511" y="256815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Server-Sent Events</a:t>
            </a:r>
            <a:endParaRPr lang="en-US" sz="1800"/>
          </a:p>
        </p:txBody>
      </p:sp>
      <p:sp>
        <p:nvSpPr>
          <p:cNvPr id="16" name="Text 12"/>
          <p:cNvSpPr/>
          <p:nvPr/>
        </p:nvSpPr>
        <p:spPr>
          <a:xfrm>
            <a:off x="4416843" y="3232331"/>
            <a:ext cx="2861490" cy="23890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Mecanismo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permite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al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servidor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enviar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información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al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cliente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mediante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conexión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HTTP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permanece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abierta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s-E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Su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comunicación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es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unidireccional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SignalR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utiliza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este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protocolo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únicamente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cuando WebSockets no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está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disponible. 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808976" y="2194560"/>
            <a:ext cx="3337560" cy="39776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991856" y="284538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050"/>
          </a:p>
        </p:txBody>
      </p:sp>
      <p:sp>
        <p:nvSpPr>
          <p:cNvPr id="21" name="Text 16"/>
          <p:cNvSpPr/>
          <p:nvPr/>
        </p:nvSpPr>
        <p:spPr>
          <a:xfrm>
            <a:off x="7946136" y="256815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Polling</a:t>
            </a:r>
            <a:endParaRPr lang="en-US" sz="1800"/>
          </a:p>
        </p:txBody>
      </p:sp>
      <p:sp>
        <p:nvSpPr>
          <p:cNvPr id="22" name="Text 17"/>
          <p:cNvSpPr/>
          <p:nvPr/>
        </p:nvSpPr>
        <p:spPr>
          <a:xfrm>
            <a:off x="8047011" y="3268618"/>
            <a:ext cx="2861490" cy="241082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lnSpc>
                <a:spcPct val="118000"/>
              </a:lnSpc>
              <a:buFont typeface="Arial"/>
              <a:buChar char="•"/>
            </a:pP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Es el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mecanismo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respaldo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utilizado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por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SignalR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cuando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no es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posible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emplear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WebSockets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ni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Server-Sent Events. </a:t>
            </a:r>
            <a:endParaRPr lang="en-US" sz="1400">
              <a:ea typeface="+mn-lt"/>
              <a:cs typeface="+mn-lt"/>
            </a:endParaRPr>
          </a:p>
          <a:p>
            <a:pPr marL="285750" indent="-285750">
              <a:lnSpc>
                <a:spcPct val="118000"/>
              </a:lnSpc>
              <a:buFont typeface="Arial"/>
              <a:buChar char="•"/>
            </a:pP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El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repite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solicitudes HTTP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mantiene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abiertas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hasta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tener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datos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 Simula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tiempo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real,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pero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genera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más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tráfico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rinde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menos</a:t>
            </a:r>
            <a:r>
              <a:rPr lang="en-US" sz="14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941064" y="41833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571232" y="41833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26" name="Text 2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Implementación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de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SignalR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(1/5)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la dependencia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417320" y="20848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incorpora mediante el paquete oficial de Microsoft.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777240" y="2633472"/>
            <a:ext cx="4663440" cy="822960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72491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</a:t>
            </a:r>
            <a:endParaRPr lang="en-US" sz="1100"/>
          </a:p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Microsoft.AspNetCore.SignalR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77669" y="3884023"/>
            <a:ext cx="51206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6269" y="4112623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06269" y="4112623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446349" y="4066903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servicio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446349" y="4414375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SignalR en Program.cs.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806269" y="4963015"/>
            <a:ext cx="4663440" cy="822960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961717" y="5054455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builder.Services.AddSignalR();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601097" y="1548094"/>
            <a:ext cx="5127897" cy="4476205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29697" y="1769437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829697" y="1769437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7469777" y="1723717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Hub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7469777" y="2078446"/>
            <a:ext cx="4061823" cy="568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Esta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será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el punto de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comunicación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entre el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servidor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y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los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334155"/>
                </a:solidFill>
                <a:ea typeface="+mn-lt"/>
                <a:cs typeface="+mn-lt"/>
              </a:rPr>
              <a:t>clientes</a:t>
            </a:r>
            <a:r>
              <a:rPr lang="en-US" sz="140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s-ES" sz="1400"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br>
              <a:rPr lang="en-US" sz="1400">
                <a:ea typeface="+mn-lt"/>
                <a:cs typeface="+mn-lt"/>
              </a:rPr>
            </a:br>
            <a:endParaRPr lang="en-US" sz="1150">
              <a:solidFill>
                <a:srgbClr val="334155"/>
              </a:solidFill>
              <a:ea typeface="+mn-lt"/>
              <a:cs typeface="+mn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F5B04ADC-F9FB-3A2A-0167-335B5288A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69000"/>
                    </a14:imgEffect>
                    <a14:imgEffect>
                      <a14:brightnessContrast contrast="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41054" y="2630034"/>
            <a:ext cx="3707492" cy="30566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C8EAD-649B-9540-9541-8D2AF373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A53A4C-2D75-D4B1-DA94-A399DE7C3526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AE9A0-B016-7BE2-320E-E7992FDEFF70}"/>
              </a:ext>
            </a:extLst>
          </p:cNvPr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Implementación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de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SignalR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(2/5)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7D1F9A-8CDA-BC1A-D4C8-4AB26CD2DE43}"/>
              </a:ext>
            </a:extLst>
          </p:cNvPr>
          <p:cNvSpPr/>
          <p:nvPr/>
        </p:nvSpPr>
        <p:spPr>
          <a:xfrm>
            <a:off x="548640" y="1358537"/>
            <a:ext cx="51206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7D4ACA-E84D-4167-C9AD-35A928EF9457}"/>
              </a:ext>
            </a:extLst>
          </p:cNvPr>
          <p:cNvSpPr/>
          <p:nvPr/>
        </p:nvSpPr>
        <p:spPr>
          <a:xfrm>
            <a:off x="777240" y="159439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B64545-35D7-B088-E0B5-A20304E8BB5D}"/>
              </a:ext>
            </a:extLst>
          </p:cNvPr>
          <p:cNvSpPr/>
          <p:nvPr/>
        </p:nvSpPr>
        <p:spPr>
          <a:xfrm>
            <a:off x="777240" y="1594394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lang="en-US" sz="18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90F3750-CDEB-AED1-6688-CE5317C948ED}"/>
              </a:ext>
            </a:extLst>
          </p:cNvPr>
          <p:cNvSpPr/>
          <p:nvPr/>
        </p:nvSpPr>
        <p:spPr>
          <a:xfrm>
            <a:off x="1417320" y="1548674"/>
            <a:ext cx="40690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Configurar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ruta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 del hub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52D689-08C9-AFDC-7B04-7A5F3D1A413E}"/>
              </a:ext>
            </a:extLst>
          </p:cNvPr>
          <p:cNvSpPr/>
          <p:nvPr/>
        </p:nvSpPr>
        <p:spPr>
          <a:xfrm>
            <a:off x="1424577" y="1896146"/>
            <a:ext cx="4105366" cy="4811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4999"/>
              </a:lnSpc>
            </a:pP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Luego se debe indicar a ASP.NET Core la dirección mediante la cual los clientes podrán conectarse al Hub en el </a:t>
            </a:r>
            <a:r>
              <a:rPr lang="es-419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Program.cs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.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9F6115E-D4B0-E340-F0D7-47D8C5A19237}"/>
              </a:ext>
            </a:extLst>
          </p:cNvPr>
          <p:cNvSpPr/>
          <p:nvPr/>
        </p:nvSpPr>
        <p:spPr>
          <a:xfrm>
            <a:off x="577669" y="3666309"/>
            <a:ext cx="5120640" cy="25095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8F8782B-BEF5-44E0-A1E8-CBA856D05712}"/>
              </a:ext>
            </a:extLst>
          </p:cNvPr>
          <p:cNvSpPr/>
          <p:nvPr/>
        </p:nvSpPr>
        <p:spPr>
          <a:xfrm>
            <a:off x="806269" y="3894909"/>
            <a:ext cx="502920" cy="59726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87185E2-4914-27F1-79E0-2600C978D5F8}"/>
              </a:ext>
            </a:extLst>
          </p:cNvPr>
          <p:cNvSpPr/>
          <p:nvPr/>
        </p:nvSpPr>
        <p:spPr>
          <a:xfrm>
            <a:off x="806269" y="3894909"/>
            <a:ext cx="502920" cy="59726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lang="en-US"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14A345D-E24C-B3DB-8C8A-0D7AB5B0D8D5}"/>
              </a:ext>
            </a:extLst>
          </p:cNvPr>
          <p:cNvSpPr/>
          <p:nvPr/>
        </p:nvSpPr>
        <p:spPr>
          <a:xfrm>
            <a:off x="1446349" y="3849189"/>
            <a:ext cx="4069080" cy="4383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0F172A"/>
                </a:solidFill>
                <a:ea typeface="Calibri"/>
                <a:cs typeface="Calibri"/>
              </a:rPr>
              <a:t>Crear la </a:t>
            </a:r>
            <a:r>
              <a:rPr lang="en-US" sz="1500" b="1" err="1">
                <a:solidFill>
                  <a:srgbClr val="0F172A"/>
                </a:solidFill>
                <a:ea typeface="Calibri"/>
                <a:cs typeface="Calibri"/>
              </a:rPr>
              <a:t>conexion</a:t>
            </a:r>
            <a:r>
              <a:rPr lang="en-US" sz="1500" b="1">
                <a:solidFill>
                  <a:srgbClr val="0F172A"/>
                </a:solidFill>
                <a:ea typeface="Calibri"/>
                <a:cs typeface="Calibri"/>
              </a:rPr>
              <a:t> con el hub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2CEE75-3276-6D0C-4599-0E59443E27ED}"/>
              </a:ext>
            </a:extLst>
          </p:cNvPr>
          <p:cNvSpPr/>
          <p:nvPr/>
        </p:nvSpPr>
        <p:spPr>
          <a:xfrm>
            <a:off x="1439092" y="4203918"/>
            <a:ext cx="4083594" cy="9673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4999"/>
              </a:lnSpc>
            </a:pP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Una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vez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configurado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el Hub 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el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servidor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, el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cliente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debe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crear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una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conexión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para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poder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intercambiar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información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en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tiempo</a:t>
            </a:r>
            <a:r>
              <a:rPr lang="en-US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real.</a:t>
            </a:r>
            <a:endParaRPr lang="es-ES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7723544-E86A-A726-1001-8260D28A52E9}"/>
              </a:ext>
            </a:extLst>
          </p:cNvPr>
          <p:cNvSpPr/>
          <p:nvPr/>
        </p:nvSpPr>
        <p:spPr>
          <a:xfrm>
            <a:off x="6608354" y="2331865"/>
            <a:ext cx="5084354" cy="2937692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B167A32-3A09-94E0-1E84-1EF94BF326B3}"/>
              </a:ext>
            </a:extLst>
          </p:cNvPr>
          <p:cNvSpPr/>
          <p:nvPr/>
        </p:nvSpPr>
        <p:spPr>
          <a:xfrm>
            <a:off x="6786154" y="2531437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55DA28A-AB41-6FBC-625C-14E1BE543F75}"/>
              </a:ext>
            </a:extLst>
          </p:cNvPr>
          <p:cNvSpPr/>
          <p:nvPr/>
        </p:nvSpPr>
        <p:spPr>
          <a:xfrm>
            <a:off x="6786154" y="2531437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lang="en-US" sz="18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B1D2A48-7A05-712A-2DE5-F2417C8DA388}"/>
              </a:ext>
            </a:extLst>
          </p:cNvPr>
          <p:cNvSpPr/>
          <p:nvPr/>
        </p:nvSpPr>
        <p:spPr>
          <a:xfrm>
            <a:off x="7426234" y="2485717"/>
            <a:ext cx="40690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Iniciar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conexión</a:t>
            </a:r>
            <a:endParaRPr lang="es-ES" err="1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1C87FEC-056E-FED9-C511-BA00479E54B1}"/>
              </a:ext>
            </a:extLst>
          </p:cNvPr>
          <p:cNvSpPr/>
          <p:nvPr/>
        </p:nvSpPr>
        <p:spPr>
          <a:xfrm>
            <a:off x="7418977" y="2840446"/>
            <a:ext cx="4069080" cy="7133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s-419" sz="1100">
                <a:solidFill>
                  <a:srgbClr val="334155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Una vez creada la conexión, el cliente debe iniciarla para comenzar a comunicarse con el Hub.</a:t>
            </a:r>
            <a:endParaRPr lang="en-US" sz="1100">
              <a:solidFill>
                <a:srgbClr val="334155"/>
              </a:solidFill>
              <a:highlight>
                <a:srgbClr val="C6C6C6"/>
              </a:highlight>
              <a:latin typeface="Arial"/>
              <a:ea typeface="+mn-lt"/>
              <a:cs typeface="Arial"/>
            </a:endParaRPr>
          </a:p>
          <a:p>
            <a:r>
              <a:rPr lang="es-419" sz="1100">
                <a:solidFill>
                  <a:srgbClr val="334155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El método </a:t>
            </a:r>
            <a:r>
              <a:rPr lang="es-419" sz="1100" err="1">
                <a:solidFill>
                  <a:srgbClr val="33415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start</a:t>
            </a:r>
            <a:r>
              <a:rPr lang="es-419" sz="1100">
                <a:solidFill>
                  <a:srgbClr val="334155"/>
                </a:solidFill>
                <a:highlight>
                  <a:srgbClr val="FFFFFF"/>
                </a:highlight>
                <a:latin typeface="Consolas"/>
                <a:ea typeface="+mn-lt"/>
                <a:cs typeface="+mn-lt"/>
              </a:rPr>
              <a:t>()</a:t>
            </a:r>
            <a:r>
              <a:rPr lang="es-419" sz="1100">
                <a:solidFill>
                  <a:srgbClr val="334155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 establece la conexión entre el cliente y el servidor. </a:t>
            </a:r>
            <a:endParaRPr lang="en-US"/>
          </a:p>
          <a:p>
            <a:endParaRPr lang="en-US" sz="1400">
              <a:solidFill>
                <a:srgbClr val="334155"/>
              </a:solidFill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br>
              <a:rPr lang="en-US" sz="1400">
                <a:ea typeface="+mn-lt"/>
                <a:cs typeface="+mn-lt"/>
              </a:rPr>
            </a:br>
            <a:endParaRPr lang="en-US" sz="1150">
              <a:solidFill>
                <a:srgbClr val="334155"/>
              </a:solidFill>
              <a:ea typeface="+mn-lt"/>
              <a:cs typeface="+mn-lt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DFD88D4-AA84-6CEF-2ABE-47AAAC62841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AA9E2F4-F667-E17E-7FCF-385370B738E0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2A90553-ECA0-E7DD-FF00-C51FBE34A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46000"/>
                    </a14:imgEffect>
                    <a14:imgEffect>
                      <a14:brightnessContrast contrast="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7184" y="2376033"/>
            <a:ext cx="3762375" cy="69804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00227A3-9B27-18ED-DF8A-ABF6AB57D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150000"/>
                    </a14:imgEffect>
                    <a14:imgEffect>
                      <a14:brightnessContrast contras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6375" y="4877480"/>
            <a:ext cx="3709306" cy="1181553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D663D34-A476-FB7A-6911-E7608E2A1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477" y="3668485"/>
            <a:ext cx="5012873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56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F6369-0213-C419-6AD2-63A13197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E09BBC-3410-0FE0-FD75-A860CBDBD1A5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D974E7-5C01-0CC1-8B26-CEC2B8B34CFC}"/>
              </a:ext>
            </a:extLst>
          </p:cNvPr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Implementación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de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SignalR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(3/5)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B90ECB-1E29-1936-FEF3-1E5D8A736E79}"/>
              </a:ext>
            </a:extLst>
          </p:cNvPr>
          <p:cNvSpPr/>
          <p:nvPr/>
        </p:nvSpPr>
        <p:spPr>
          <a:xfrm>
            <a:off x="207555" y="1307738"/>
            <a:ext cx="5897153" cy="5151118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CAE647-E885-A3B8-2F5C-B38309A5CF7F}"/>
              </a:ext>
            </a:extLst>
          </p:cNvPr>
          <p:cNvSpPr/>
          <p:nvPr/>
        </p:nvSpPr>
        <p:spPr>
          <a:xfrm>
            <a:off x="777240" y="159439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E4C713-D051-85B5-0064-67AB08C0879C}"/>
              </a:ext>
            </a:extLst>
          </p:cNvPr>
          <p:cNvSpPr/>
          <p:nvPr/>
        </p:nvSpPr>
        <p:spPr>
          <a:xfrm>
            <a:off x="777240" y="1594394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lang="en-US" sz="18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7CA405-2548-ABA7-6A99-ACEA969ADA12}"/>
              </a:ext>
            </a:extLst>
          </p:cNvPr>
          <p:cNvSpPr/>
          <p:nvPr/>
        </p:nvSpPr>
        <p:spPr>
          <a:xfrm>
            <a:off x="1417320" y="1548674"/>
            <a:ext cx="40690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Implementar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métodos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del Hub.</a:t>
            </a:r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37C76F-8F50-CA40-2ADD-8595C339BE20}"/>
              </a:ext>
            </a:extLst>
          </p:cNvPr>
          <p:cNvSpPr/>
          <p:nvPr/>
        </p:nvSpPr>
        <p:spPr>
          <a:xfrm>
            <a:off x="1424577" y="1896146"/>
            <a:ext cx="4105366" cy="4811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4999"/>
              </a:lnSpc>
            </a:pP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En este proyecto, el método 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alibri"/>
                <a:cs typeface="Arial"/>
              </a:rPr>
              <a:t>EnviarOferta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 recibe la oferta enviada por un usuario, la almacena mediante </a:t>
            </a:r>
            <a:r>
              <a:rPr lang="es-419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Entity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 Framework Core y posteriormente la distribuye a los clientes correspondientes.</a:t>
            </a:r>
            <a:endParaRPr lang="es-419" sz="1100">
              <a:solidFill>
                <a:srgbClr val="000000"/>
              </a:solidFill>
              <a:highlight>
                <a:srgbClr val="C6C6C6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7612314-D657-F4A0-F667-0D5A604D472A}"/>
              </a:ext>
            </a:extLst>
          </p:cNvPr>
          <p:cNvSpPr/>
          <p:nvPr/>
        </p:nvSpPr>
        <p:spPr>
          <a:xfrm>
            <a:off x="6593840" y="2237522"/>
            <a:ext cx="5084354" cy="2545806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AEE1E31-F35D-65E0-D119-60F7A63E0CA0}"/>
              </a:ext>
            </a:extLst>
          </p:cNvPr>
          <p:cNvSpPr/>
          <p:nvPr/>
        </p:nvSpPr>
        <p:spPr>
          <a:xfrm>
            <a:off x="6771640" y="2437094"/>
            <a:ext cx="502920" cy="4303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89A1F0A-4369-24DC-F83A-52150B2AA605}"/>
              </a:ext>
            </a:extLst>
          </p:cNvPr>
          <p:cNvSpPr/>
          <p:nvPr/>
        </p:nvSpPr>
        <p:spPr>
          <a:xfrm>
            <a:off x="6771640" y="2437094"/>
            <a:ext cx="502920" cy="4303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lang="en-US" sz="18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84614E-E9EF-2C47-922F-3E8618C826A1}"/>
              </a:ext>
            </a:extLst>
          </p:cNvPr>
          <p:cNvSpPr/>
          <p:nvPr/>
        </p:nvSpPr>
        <p:spPr>
          <a:xfrm>
            <a:off x="7411720" y="2391374"/>
            <a:ext cx="4069080" cy="3222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Implementacion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 de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métodos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0E3852-09C9-E039-B1F5-D18B44B34BCA}"/>
              </a:ext>
            </a:extLst>
          </p:cNvPr>
          <p:cNvSpPr/>
          <p:nvPr/>
        </p:nvSpPr>
        <p:spPr>
          <a:xfrm>
            <a:off x="7404463" y="2746103"/>
            <a:ext cx="4069080" cy="619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s-419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En la aplicación desarrollada se utilizan para mostrar nuevas ofertas y notificaciones sin necesidad de actualizar la página</a:t>
            </a:r>
            <a:r>
              <a:rPr lang="es-419" sz="1200">
                <a:solidFill>
                  <a:srgbClr val="334155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. </a:t>
            </a:r>
            <a:endParaRPr lang="en-US" sz="1200">
              <a:ea typeface="Calibri"/>
              <a:cs typeface="Calibri"/>
            </a:endParaRPr>
          </a:p>
          <a:p>
            <a:endParaRPr lang="en-US" sz="1400">
              <a:solidFill>
                <a:srgbClr val="334155"/>
              </a:solidFill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br>
              <a:rPr lang="en-US" sz="1400">
                <a:ea typeface="+mn-lt"/>
                <a:cs typeface="+mn-lt"/>
              </a:rPr>
            </a:br>
            <a:endParaRPr lang="en-US" sz="1150">
              <a:solidFill>
                <a:srgbClr val="334155"/>
              </a:solidFill>
              <a:ea typeface="+mn-lt"/>
              <a:cs typeface="+mn-lt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B4A8BC9-3CBA-69FA-AF7A-1615E02F1A9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AA17252-9E74-A266-E168-C5F294A5D7EC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92D394-5E6E-843A-6E19-0B4F08894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12000"/>
                    </a14:imgEffect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4705" y="3058659"/>
            <a:ext cx="5447847" cy="29976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77F279B-7448-9C5B-E4E7-0C8BE3C57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796" y="3449411"/>
            <a:ext cx="4360637" cy="73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26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15DAD-9EED-2D46-93F0-E9AD27DA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72DE88-02C3-09CA-5587-BB685C42C452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603D18-A5C3-007F-0FFA-BC8CDF9278AF}"/>
              </a:ext>
            </a:extLst>
          </p:cNvPr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Implementación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de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SignalR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(4/5)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FF41787-A889-813D-C8A6-6C6950BF35D0}"/>
              </a:ext>
            </a:extLst>
          </p:cNvPr>
          <p:cNvSpPr/>
          <p:nvPr/>
        </p:nvSpPr>
        <p:spPr>
          <a:xfrm>
            <a:off x="541383" y="1402079"/>
            <a:ext cx="5563325" cy="4759234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2E5A2E-EC45-EBBB-7D10-1B00CC215788}"/>
              </a:ext>
            </a:extLst>
          </p:cNvPr>
          <p:cNvSpPr/>
          <p:nvPr/>
        </p:nvSpPr>
        <p:spPr>
          <a:xfrm>
            <a:off x="777240" y="159439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0E26AA-63D8-4298-CAF8-B5614A443742}"/>
              </a:ext>
            </a:extLst>
          </p:cNvPr>
          <p:cNvSpPr/>
          <p:nvPr/>
        </p:nvSpPr>
        <p:spPr>
          <a:xfrm>
            <a:off x="777240" y="1594394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lang="en-US" sz="18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B27476-1604-400A-D2F7-46C13F307BD7}"/>
              </a:ext>
            </a:extLst>
          </p:cNvPr>
          <p:cNvSpPr/>
          <p:nvPr/>
        </p:nvSpPr>
        <p:spPr>
          <a:xfrm>
            <a:off x="1417320" y="1548674"/>
            <a:ext cx="40690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Envio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mensaje</a:t>
            </a:r>
            <a:endParaRPr lang="es-ES" err="1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3D7931-E6D4-882D-B67F-20E36056042D}"/>
              </a:ext>
            </a:extLst>
          </p:cNvPr>
          <p:cNvSpPr/>
          <p:nvPr/>
        </p:nvSpPr>
        <p:spPr>
          <a:xfrm>
            <a:off x="1424577" y="1903403"/>
            <a:ext cx="4090852" cy="8149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14999"/>
              </a:lnSpc>
            </a:pP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En la aplicación desarrollada, el envío de una oferta sigue un flujo compuesto por tres etapas: el cliente invoca un método del servidor, el servidor procesa la información y, finalmente, envía el resultado a los clientes correspondientes.</a:t>
            </a:r>
            <a:endParaRPr lang="es-419" sz="1100">
              <a:solidFill>
                <a:srgbClr val="000000"/>
              </a:solidFill>
              <a:highlight>
                <a:srgbClr val="C6C6C6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AF80596-F0AC-CF64-9B25-02109DE0EB92}"/>
              </a:ext>
            </a:extLst>
          </p:cNvPr>
          <p:cNvSpPr/>
          <p:nvPr/>
        </p:nvSpPr>
        <p:spPr>
          <a:xfrm>
            <a:off x="6593840" y="2237522"/>
            <a:ext cx="5084354" cy="2545806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A4AA26B-B1D4-4D18-6C5E-E72C536B6BF5}"/>
              </a:ext>
            </a:extLst>
          </p:cNvPr>
          <p:cNvSpPr/>
          <p:nvPr/>
        </p:nvSpPr>
        <p:spPr>
          <a:xfrm>
            <a:off x="6771640" y="2437094"/>
            <a:ext cx="502920" cy="4303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66F0D2-87F2-04AC-7087-EB9F21DFCF50}"/>
              </a:ext>
            </a:extLst>
          </p:cNvPr>
          <p:cNvSpPr/>
          <p:nvPr/>
        </p:nvSpPr>
        <p:spPr>
          <a:xfrm>
            <a:off x="6771640" y="2437094"/>
            <a:ext cx="502920" cy="4303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10</a:t>
            </a:r>
            <a:endParaRPr lang="en-US" sz="18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7E6DA1-EA14-49A8-A760-27812A3B99B1}"/>
              </a:ext>
            </a:extLst>
          </p:cNvPr>
          <p:cNvSpPr/>
          <p:nvPr/>
        </p:nvSpPr>
        <p:spPr>
          <a:xfrm>
            <a:off x="7411720" y="2391374"/>
            <a:ext cx="4069080" cy="3222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Implementacion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 de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métodos</a:t>
            </a:r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3D0889B-CBBC-9365-D12E-ACBC2E7E14D4}"/>
              </a:ext>
            </a:extLst>
          </p:cNvPr>
          <p:cNvSpPr/>
          <p:nvPr/>
        </p:nvSpPr>
        <p:spPr>
          <a:xfrm>
            <a:off x="7404463" y="2746103"/>
            <a:ext cx="4069080" cy="619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s-419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En la aplicación desarrollada se utilizan para mostrar nuevas ofertas y notificaciones sin necesidad de actualizar la página</a:t>
            </a:r>
            <a:r>
              <a:rPr lang="es-419" sz="1200">
                <a:solidFill>
                  <a:srgbClr val="334155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. </a:t>
            </a:r>
            <a:endParaRPr lang="en-US" sz="1200">
              <a:ea typeface="Calibri"/>
              <a:cs typeface="Calibri"/>
            </a:endParaRPr>
          </a:p>
          <a:p>
            <a:endParaRPr lang="en-US" sz="1400">
              <a:solidFill>
                <a:srgbClr val="334155"/>
              </a:solidFill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br>
              <a:rPr lang="en-US" sz="1400">
                <a:ea typeface="+mn-lt"/>
                <a:cs typeface="+mn-lt"/>
              </a:rPr>
            </a:br>
            <a:endParaRPr lang="en-US" sz="1150">
              <a:solidFill>
                <a:srgbClr val="334155"/>
              </a:solidFill>
              <a:ea typeface="+mn-lt"/>
              <a:cs typeface="+mn-lt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3462CA7-9BC8-27BA-7962-3F2FCA76E5B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E9A295A-54AD-C0E2-2115-2A62C782FFA7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28A52AD-6A17-C8B2-BAB1-FC884303E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796" y="3449411"/>
            <a:ext cx="4360637" cy="73569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4BB6C53-461F-C4FB-CB37-21D5294448CA}"/>
              </a:ext>
            </a:extLst>
          </p:cNvPr>
          <p:cNvSpPr txBox="1"/>
          <p:nvPr/>
        </p:nvSpPr>
        <p:spPr>
          <a:xfrm>
            <a:off x="1016000" y="3057071"/>
            <a:ext cx="4074884" cy="29084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s-419" sz="1100" b="1">
                <a:highlight>
                  <a:srgbClr val="FFFFFF"/>
                </a:highlight>
                <a:latin typeface="Arial"/>
                <a:cs typeface="Arial"/>
              </a:rPr>
              <a:t> El cliente invoca al </a:t>
            </a:r>
            <a:r>
              <a:rPr lang="es-419" sz="1100" b="1" err="1">
                <a:highlight>
                  <a:srgbClr val="FFFFFF"/>
                </a:highlight>
                <a:latin typeface="Arial"/>
                <a:cs typeface="Arial"/>
              </a:rPr>
              <a:t>metodo</a:t>
            </a:r>
            <a:r>
              <a:rPr lang="es-419" sz="1100" b="1">
                <a:highlight>
                  <a:srgbClr val="FFFFFF"/>
                </a:highlight>
                <a:latin typeface="Arial"/>
                <a:cs typeface="Arial"/>
              </a:rPr>
              <a:t> del servidor</a:t>
            </a:r>
            <a:endParaRPr lang="es-ES" sz="1100">
              <a:highlight>
                <a:srgbClr val="C6C6C6"/>
              </a:highlight>
              <a:latin typeface="Arial"/>
              <a:cs typeface="Arial"/>
            </a:endParaRPr>
          </a:p>
          <a:p>
            <a:pPr lvl="1"/>
            <a:r>
              <a:rPr lang="es-419" sz="1100">
                <a:highlight>
                  <a:srgbClr val="FFFFFF"/>
                </a:highlight>
                <a:latin typeface="Arial"/>
                <a:cs typeface="Arial"/>
              </a:rPr>
              <a:t>Cuando el usuario escribe una oferta y presiona el botón </a:t>
            </a:r>
            <a:r>
              <a:rPr lang="es-419" sz="1100" b="1">
                <a:highlight>
                  <a:srgbClr val="FFFFFF"/>
                </a:highlight>
                <a:latin typeface="Arial"/>
                <a:cs typeface="Arial"/>
              </a:rPr>
              <a:t>Enviar</a:t>
            </a:r>
            <a:r>
              <a:rPr lang="es-419" sz="1100">
                <a:highlight>
                  <a:srgbClr val="FFFFFF"/>
                </a:highlight>
                <a:latin typeface="Arial"/>
                <a:cs typeface="Arial"/>
              </a:rPr>
              <a:t>, el cliente invoca el método </a:t>
            </a:r>
            <a:r>
              <a:rPr lang="es-419" sz="1100">
                <a:highlight>
                  <a:srgbClr val="FFFFFF"/>
                </a:highlight>
                <a:latin typeface="Consolas"/>
              </a:rPr>
              <a:t>EnviarOferta()</a:t>
            </a:r>
            <a:r>
              <a:rPr lang="es-419" sz="1100">
                <a:highlight>
                  <a:srgbClr val="FFFFFF"/>
                </a:highlight>
                <a:latin typeface="Arial"/>
                <a:cs typeface="Arial"/>
              </a:rPr>
              <a:t> definido en el Hub.</a:t>
            </a:r>
            <a:endParaRPr lang="es-ES" sz="1100">
              <a:highlight>
                <a:srgbClr val="C6C6C6"/>
              </a:highlight>
              <a:latin typeface="Arial"/>
              <a:cs typeface="Arial"/>
            </a:endParaRPr>
          </a:p>
          <a:p>
            <a:pPr lvl="1"/>
            <a:endParaRPr lang="es-ES" sz="1100">
              <a:highlight>
                <a:srgbClr val="C6C6C6"/>
              </a:highlight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s-419" sz="1100" b="1">
                <a:highlight>
                  <a:srgbClr val="FFFFFF"/>
                </a:highlight>
                <a:latin typeface="Arial"/>
                <a:cs typeface="Arial"/>
              </a:rPr>
              <a:t> El servidor procesa la información y </a:t>
            </a:r>
            <a:r>
              <a:rPr lang="es-419" sz="1100" b="1" err="1">
                <a:highlight>
                  <a:srgbClr val="FFFFFF"/>
                </a:highlight>
                <a:latin typeface="Arial"/>
                <a:cs typeface="Arial"/>
              </a:rPr>
              <a:t>envia</a:t>
            </a:r>
            <a:r>
              <a:rPr lang="es-419" sz="1100" b="1">
                <a:highlight>
                  <a:srgbClr val="FFFFFF"/>
                </a:highlight>
                <a:latin typeface="Arial"/>
                <a:cs typeface="Arial"/>
              </a:rPr>
              <a:t> el mensaje</a:t>
            </a:r>
            <a:endParaRPr lang="es-ES" sz="1100">
              <a:highlight>
                <a:srgbClr val="C6C6C6"/>
              </a:highlight>
              <a:latin typeface="Arial"/>
              <a:cs typeface="Arial"/>
            </a:endParaRPr>
          </a:p>
          <a:p>
            <a:pPr lvl="1"/>
            <a:r>
              <a:rPr lang="es-419" sz="1100">
                <a:highlight>
                  <a:srgbClr val="FFFFFF"/>
                </a:highlight>
                <a:latin typeface="Arial"/>
                <a:cs typeface="Arial"/>
              </a:rPr>
              <a:t>Una vez recibida la solicitud, el método </a:t>
            </a:r>
            <a:r>
              <a:rPr lang="es-419" sz="1100">
                <a:highlight>
                  <a:srgbClr val="FFFFFF"/>
                </a:highlight>
                <a:latin typeface="Consolas"/>
              </a:rPr>
              <a:t>EnviarOferta()</a:t>
            </a:r>
            <a:r>
              <a:rPr lang="es-419" sz="1100">
                <a:highlight>
                  <a:srgbClr val="FFFFFF"/>
                </a:highlight>
                <a:latin typeface="Arial"/>
                <a:cs typeface="Arial"/>
              </a:rPr>
              <a:t> del Hub hace lo que tiene que hacer y luego la distribuye a todos los clientes que pertenecen al grupo de la publicación</a:t>
            </a:r>
            <a:endParaRPr lang="es-ES" sz="1100">
              <a:highlight>
                <a:srgbClr val="C6C6C6"/>
              </a:highlight>
              <a:latin typeface="Arial"/>
              <a:cs typeface="Arial"/>
            </a:endParaRPr>
          </a:p>
          <a:p>
            <a:pPr lvl="1"/>
            <a:endParaRPr lang="es-ES" sz="1100">
              <a:highlight>
                <a:srgbClr val="C6C6C6"/>
              </a:highlight>
              <a:latin typeface="Arial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s-419" sz="1100" b="1">
                <a:highlight>
                  <a:srgbClr val="FFFFFF"/>
                </a:highlight>
                <a:latin typeface="Arial"/>
                <a:cs typeface="Arial"/>
              </a:rPr>
              <a:t>El cliente recibe el mensaje </a:t>
            </a:r>
            <a:endParaRPr lang="es-ES" sz="1100">
              <a:highlight>
                <a:srgbClr val="C6C6C6"/>
              </a:highlight>
              <a:latin typeface="Arial"/>
              <a:cs typeface="Arial"/>
            </a:endParaRPr>
          </a:p>
          <a:p>
            <a:pPr lvl="1"/>
            <a:r>
              <a:rPr lang="es-419" sz="1100">
                <a:highlight>
                  <a:srgbClr val="FFFFFF"/>
                </a:highlight>
                <a:latin typeface="Arial"/>
                <a:cs typeface="Arial"/>
              </a:rPr>
              <a:t>Los clientes registran previamente el método que será ejecutado cuando el servidor envíe una nueva oferta</a:t>
            </a:r>
            <a:endParaRPr lang="es-ES"/>
          </a:p>
          <a:p>
            <a:pPr algn="l"/>
            <a:endParaRPr lang="es-E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790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AD7A9-B9D1-0ED0-F1EB-5309DD40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9E6EC2-B36D-E9F1-21A0-CF584341242A}"/>
              </a:ext>
            </a:extLst>
          </p:cNvPr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F58842-D85C-0876-3921-45B00314F515}"/>
              </a:ext>
            </a:extLst>
          </p:cNvPr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Implementación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de </a:t>
            </a:r>
            <a:r>
              <a:rPr lang="en-US" sz="3200" b="1" err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SignalR</a:t>
            </a:r>
            <a:r>
              <a:rPr lang="en-US" sz="3200" b="1">
                <a:solidFill>
                  <a:srgbClr val="0F172A"/>
                </a:solidFill>
                <a:latin typeface="Cambria"/>
                <a:ea typeface="Cambria"/>
                <a:cs typeface="Cambria" pitchFamily="34" charset="-120"/>
              </a:rPr>
              <a:t> (5/5)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425806-1F80-770E-D4F2-2B45B232D0B3}"/>
              </a:ext>
            </a:extLst>
          </p:cNvPr>
          <p:cNvSpPr/>
          <p:nvPr/>
        </p:nvSpPr>
        <p:spPr>
          <a:xfrm>
            <a:off x="454297" y="1605277"/>
            <a:ext cx="4990010" cy="3344093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0682CD-A4FE-4528-F4B8-CD2E451D8AC9}"/>
              </a:ext>
            </a:extLst>
          </p:cNvPr>
          <p:cNvSpPr/>
          <p:nvPr/>
        </p:nvSpPr>
        <p:spPr>
          <a:xfrm>
            <a:off x="530497" y="1659709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E77A87-5EAA-7BB7-A958-44CB699174F4}"/>
              </a:ext>
            </a:extLst>
          </p:cNvPr>
          <p:cNvSpPr/>
          <p:nvPr/>
        </p:nvSpPr>
        <p:spPr>
          <a:xfrm>
            <a:off x="530497" y="1659709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10</a:t>
            </a:r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C4FFC6-19F1-468E-3750-1C996D6A9503}"/>
              </a:ext>
            </a:extLst>
          </p:cNvPr>
          <p:cNvSpPr/>
          <p:nvPr/>
        </p:nvSpPr>
        <p:spPr>
          <a:xfrm>
            <a:off x="1170577" y="1613989"/>
            <a:ext cx="40690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Gestion de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grupos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99D1FB-3703-C2EC-F0C7-5A9EB52D3945}"/>
              </a:ext>
            </a:extLst>
          </p:cNvPr>
          <p:cNvSpPr/>
          <p:nvPr/>
        </p:nvSpPr>
        <p:spPr>
          <a:xfrm>
            <a:off x="1177834" y="1975975"/>
            <a:ext cx="3314337" cy="1119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s-419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SignalR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 administra cada conexión mediante un identificador único denominado </a:t>
            </a:r>
            <a:r>
              <a:rPr lang="es-419" sz="1100" b="1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ConnectionId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. Además, permite organizar las conexiones en </a:t>
            </a:r>
            <a:r>
              <a:rPr lang="es-419" sz="11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grupos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, facilitando el envío de mensajes únicamente a los usuarios que corresponden.</a:t>
            </a:r>
          </a:p>
          <a:p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En la aplicación desarrollada se utilizaron grupos para organizar las conversaciones, las publicaciones y las notificaciones personales.</a:t>
            </a:r>
            <a:endParaRPr lang="es-419" sz="1100">
              <a:solidFill>
                <a:srgbClr val="000000"/>
              </a:solidFill>
              <a:highlight>
                <a:srgbClr val="C6C6C6"/>
              </a:highlight>
              <a:latin typeface="Arial"/>
              <a:ea typeface="Calibri"/>
              <a:cs typeface="Arial"/>
            </a:endParaRPr>
          </a:p>
          <a:p>
            <a:pPr>
              <a:lnSpc>
                <a:spcPct val="114999"/>
              </a:lnSpc>
            </a:pPr>
            <a:endParaRPr lang="es-419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A43C8A4-330B-5E7C-979F-80433183EFBA}"/>
              </a:ext>
            </a:extLst>
          </p:cNvPr>
          <p:cNvSpPr/>
          <p:nvPr/>
        </p:nvSpPr>
        <p:spPr>
          <a:xfrm>
            <a:off x="5773786" y="1613407"/>
            <a:ext cx="6006009" cy="3532777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9B912C3-CCC3-F8B7-0EEE-5E9B7387466D}"/>
              </a:ext>
            </a:extLst>
          </p:cNvPr>
          <p:cNvSpPr/>
          <p:nvPr/>
        </p:nvSpPr>
        <p:spPr>
          <a:xfrm>
            <a:off x="6372498" y="1827493"/>
            <a:ext cx="510177" cy="4303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92C53BC-8304-264A-479D-7B8D4BD99F41}"/>
              </a:ext>
            </a:extLst>
          </p:cNvPr>
          <p:cNvSpPr/>
          <p:nvPr/>
        </p:nvSpPr>
        <p:spPr>
          <a:xfrm>
            <a:off x="6372498" y="1827493"/>
            <a:ext cx="510177" cy="4303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mbria"/>
                <a:ea typeface="Cambria"/>
              </a:rPr>
              <a:t>11</a:t>
            </a:r>
            <a:endParaRPr lang="en-US" sz="1800" b="1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8AAB97F-CBF5-E2FB-D6F3-21008DF51851}"/>
              </a:ext>
            </a:extLst>
          </p:cNvPr>
          <p:cNvSpPr/>
          <p:nvPr/>
        </p:nvSpPr>
        <p:spPr>
          <a:xfrm>
            <a:off x="7012578" y="1781773"/>
            <a:ext cx="4127137" cy="3222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Gestion de </a:t>
            </a:r>
            <a:r>
              <a:rPr lang="en-US" sz="1500" b="1" err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conexiones</a:t>
            </a:r>
            <a:endParaRPr lang="en-US" sz="1500" b="1" err="1">
              <a:solidFill>
                <a:srgbClr val="0F172A"/>
              </a:solidFill>
              <a:ea typeface="Calibri"/>
              <a:cs typeface="Calibri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0B1C762-970D-F2CC-DD9C-8D37DC7ABDB9}"/>
              </a:ext>
            </a:extLst>
          </p:cNvPr>
          <p:cNvSpPr/>
          <p:nvPr/>
        </p:nvSpPr>
        <p:spPr>
          <a:xfrm>
            <a:off x="7005321" y="2136502"/>
            <a:ext cx="4649651" cy="11488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Cuando un usuario establece una conexión con el Hub, </a:t>
            </a:r>
            <a:r>
              <a:rPr lang="es-419" sz="110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SignalR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 ejecuta automáticamente el método </a:t>
            </a:r>
            <a:r>
              <a:rPr lang="es-419" sz="110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+mn-lt"/>
                <a:cs typeface="Arial"/>
              </a:rPr>
              <a:t>OnConnectedAsync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+mn-lt"/>
                <a:cs typeface="Arial"/>
              </a:rPr>
              <a:t>().</a:t>
            </a:r>
            <a:endParaRPr lang="es-ES"/>
          </a:p>
          <a:p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Nuestra aplicación también implementa la</a:t>
            </a:r>
            <a:r>
              <a:rPr lang="es-419" sz="11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 reconexión automática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 utilizando </a:t>
            </a:r>
            <a:r>
              <a:rPr lang="es-419" sz="110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alibri"/>
                <a:cs typeface="Arial"/>
              </a:rPr>
              <a:t>withAutomaticReconnect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alibri"/>
                <a:cs typeface="Arial"/>
              </a:rPr>
              <a:t>()</a:t>
            </a:r>
            <a:r>
              <a:rPr lang="es-419" sz="11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. Cuando la conexión se restablece, el cliente vuelve a incorporarse al grupo correspondiente.</a:t>
            </a:r>
            <a:endParaRPr lang="es-419" sz="1100">
              <a:solidFill>
                <a:srgbClr val="000000"/>
              </a:solidFill>
              <a:highlight>
                <a:srgbClr val="C6C6C6"/>
              </a:highlight>
              <a:latin typeface="Arial"/>
              <a:ea typeface="Calibri"/>
              <a:cs typeface="Arial"/>
            </a:endParaRPr>
          </a:p>
          <a:p>
            <a:endParaRPr lang="en-US" sz="1400">
              <a:solidFill>
                <a:srgbClr val="334155"/>
              </a:solidFill>
              <a:ea typeface="+mn-lt"/>
              <a:cs typeface="+mn-lt"/>
            </a:endParaRPr>
          </a:p>
          <a:p>
            <a:pPr>
              <a:lnSpc>
                <a:spcPct val="114999"/>
              </a:lnSpc>
            </a:pPr>
            <a:br>
              <a:rPr lang="en-US" sz="1400">
                <a:ea typeface="+mn-lt"/>
                <a:cs typeface="+mn-lt"/>
              </a:rPr>
            </a:br>
            <a:endParaRPr lang="en-US" sz="1150">
              <a:solidFill>
                <a:srgbClr val="334155"/>
              </a:solidFill>
              <a:ea typeface="+mn-lt"/>
              <a:cs typeface="+mn-lt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03FB30D-3725-44D8-1FD4-4746916F972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E54F296-165B-4D89-B766-AE62D341B48C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4978663-D3FA-F638-5D41-F95662F32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73000"/>
                    </a14:imgEffect>
                    <a14:imgEffect>
                      <a14:brightnessContrast bright="-2000" contrast="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6822" y="3511323"/>
            <a:ext cx="4737551" cy="111261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7FBA3B5-3587-9647-77BB-18CFCAAF4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938" y="3287939"/>
            <a:ext cx="57245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29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comunicación (1/2)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puede enviar información a distintos destinatarios según la necesidad: todos los clientes, una conexión puntual o un usuario autenticado.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93192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23317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/home/claude/signalr-pptx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719" y="24853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63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Clients.All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777240" y="344728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grupal, notificaciones generales, avisos del sistema.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731520" y="4389120"/>
            <a:ext cx="3063240" cy="155448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4805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Clients.All.SendAsync(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"RecibirMensaje",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usuario, mensaje);</a:t>
            </a:r>
            <a:endParaRPr lang="en-US" sz="930"/>
          </a:p>
        </p:txBody>
      </p:sp>
      <p:sp>
        <p:nvSpPr>
          <p:cNvPr id="12" name="Shape 9"/>
          <p:cNvSpPr/>
          <p:nvPr/>
        </p:nvSpPr>
        <p:spPr>
          <a:xfrm>
            <a:off x="4224528" y="2148840"/>
            <a:ext cx="3429000" cy="393192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18988" y="23317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/home/claude/signalr-pptx/icons/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607" y="248533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61688" y="3063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Clients.Client</a:t>
            </a:r>
            <a:endParaRPr lang="en-US" sz="1400"/>
          </a:p>
        </p:txBody>
      </p:sp>
      <p:sp>
        <p:nvSpPr>
          <p:cNvPr id="16" name="Text 12"/>
          <p:cNvSpPr/>
          <p:nvPr/>
        </p:nvSpPr>
        <p:spPr>
          <a:xfrm>
            <a:off x="4453128" y="344728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una operación o avisar solo al cliente que actuó (vía ConnectionId).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4407408" y="4389120"/>
            <a:ext cx="3063240" cy="155448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</p:spPr>
      </p:sp>
      <p:sp>
        <p:nvSpPr>
          <p:cNvPr id="18" name="Text 14"/>
          <p:cNvSpPr/>
          <p:nvPr/>
        </p:nvSpPr>
        <p:spPr>
          <a:xfrm>
            <a:off x="4544568" y="44805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Clients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.Client(connectionId)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.SendAsync(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"RecibirMensaje", mensaje);</a:t>
            </a:r>
            <a:endParaRPr lang="en-US" sz="930"/>
          </a:p>
        </p:txBody>
      </p:sp>
      <p:sp>
        <p:nvSpPr>
          <p:cNvPr id="19" name="Shape 15"/>
          <p:cNvSpPr/>
          <p:nvPr/>
        </p:nvSpPr>
        <p:spPr>
          <a:xfrm>
            <a:off x="7900416" y="2148840"/>
            <a:ext cx="3429000" cy="393192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294876" y="23317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2" descr="/home/claude/signalr-pptx/icons/userfriend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495" y="2485339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37576" y="3063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Clients.User</a:t>
            </a:r>
            <a:endParaRPr lang="en-US" sz="1400"/>
          </a:p>
        </p:txBody>
      </p:sp>
      <p:sp>
        <p:nvSpPr>
          <p:cNvPr id="23" name="Text 18"/>
          <p:cNvSpPr/>
          <p:nvPr/>
        </p:nvSpPr>
        <p:spPr>
          <a:xfrm>
            <a:off x="8129016" y="344728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privado, notificaciones personales o mensajes directos a un usuario.</a:t>
            </a:r>
            <a:endParaRPr lang="en-US" sz="1100"/>
          </a:p>
        </p:txBody>
      </p:sp>
      <p:sp>
        <p:nvSpPr>
          <p:cNvPr id="24" name="Shape 19"/>
          <p:cNvSpPr/>
          <p:nvPr/>
        </p:nvSpPr>
        <p:spPr>
          <a:xfrm>
            <a:off x="8083296" y="4389120"/>
            <a:ext cx="3063240" cy="155448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</p:spPr>
      </p:sp>
      <p:sp>
        <p:nvSpPr>
          <p:cNvPr id="25" name="Text 20"/>
          <p:cNvSpPr/>
          <p:nvPr/>
        </p:nvSpPr>
        <p:spPr>
          <a:xfrm>
            <a:off x="8220456" y="44805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Clients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.User(userId)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.SendAsync(</a:t>
            </a:r>
            <a:endParaRPr lang="en-US" sz="930"/>
          </a:p>
          <a:p>
            <a:pPr marL="0" indent="0">
              <a:lnSpc>
                <a:spcPct val="120000"/>
              </a:lnSpc>
              <a:buNone/>
            </a:pPr>
            <a:r>
              <a:rPr lang="en-US" sz="93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"RecibirMensaje", mensaje);</a:t>
            </a:r>
            <a:endParaRPr lang="en-US" sz="93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27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comunicación (2/2)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SignalR permite agrupar usuarios bajo un mismo nombre o excluir conexiones puntuales al momento de distribuir un mensaje.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7260" y="235458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/home/claude/signalr-pptx/icons/layergro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25191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Clients.Group</a:t>
            </a:r>
            <a:endParaRPr lang="en-US" sz="170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mensajes a un conjunto de usuarios agrupados bajo un mismo nombre: chats grupales, equipos de trabajo, salas de juego o canales.</a:t>
            </a:r>
            <a:endParaRPr lang="en-US" sz="1250"/>
          </a:p>
        </p:txBody>
      </p:sp>
      <p:sp>
        <p:nvSpPr>
          <p:cNvPr id="10" name="Shape 7"/>
          <p:cNvSpPr/>
          <p:nvPr/>
        </p:nvSpPr>
        <p:spPr>
          <a:xfrm>
            <a:off x="868680" y="4023360"/>
            <a:ext cx="4572000" cy="1828800"/>
          </a:xfrm>
          <a:prstGeom prst="roundRect">
            <a:avLst>
              <a:gd name="adj" fmla="val 2500"/>
            </a:avLst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16052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Clients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.Group("Musicos")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.SendAsync(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"RecibirMensaje",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mensaje);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6263640" y="214884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52260" y="2354580"/>
            <a:ext cx="685800" cy="6858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4" name="Image 1" descr="/home/claude/signalr-pptx/icons/tim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852" y="251917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2423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Clients.AllExcept</a:t>
            </a:r>
            <a:endParaRPr lang="en-US" sz="1700"/>
          </a:p>
        </p:txBody>
      </p:sp>
      <p:sp>
        <p:nvSpPr>
          <p:cNvPr id="16" name="Text 12"/>
          <p:cNvSpPr/>
          <p:nvPr/>
        </p:nvSpPr>
        <p:spPr>
          <a:xfrm>
            <a:off x="6583680" y="30632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un mensaje a todos los clientes conectados, excepto a uno o varios indicados: actualizar a todos menos a quien realizó la acción.</a:t>
            </a:r>
            <a:endParaRPr lang="en-US" sz="1250"/>
          </a:p>
        </p:txBody>
      </p:sp>
      <p:sp>
        <p:nvSpPr>
          <p:cNvPr id="17" name="Shape 13"/>
          <p:cNvSpPr/>
          <p:nvPr/>
        </p:nvSpPr>
        <p:spPr>
          <a:xfrm>
            <a:off x="6583680" y="4023360"/>
            <a:ext cx="4572000" cy="18288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416052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Clients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.AllExcept(connectionId)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.SendAsync(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"RecibirMensaje",</a:t>
            </a:r>
            <a:endParaRPr lang="en-US" sz="1150"/>
          </a:p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mensaje);</a:t>
            </a:r>
            <a:endParaRPr lang="en-US" sz="115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20" name="Text 1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INVESTIGACIÓN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5044" y="18059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/home/claude/signalr-pptx/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90" y="19485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</a:t>
            </a:r>
            <a:endParaRPr lang="en-US" sz="1250"/>
          </a:p>
        </p:txBody>
      </p:sp>
      <p:sp>
        <p:nvSpPr>
          <p:cNvPr id="8" name="Shape 5"/>
          <p:cNvSpPr/>
          <p:nvPr/>
        </p:nvSpPr>
        <p:spPr>
          <a:xfrm>
            <a:off x="3200400" y="1600200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46804" y="1805940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0" name="Image 1" descr="/home/claude/signalr-pptx/icons/c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450" y="19485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251460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250"/>
          </a:p>
        </p:txBody>
      </p:sp>
      <p:sp>
        <p:nvSpPr>
          <p:cNvPr id="12" name="Shape 8"/>
          <p:cNvSpPr/>
          <p:nvPr/>
        </p:nvSpPr>
        <p:spPr>
          <a:xfrm>
            <a:off x="5852160" y="1600200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798564" y="18059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/home/claude/signalr-pptx/icons/userfriend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210" y="194858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0" y="251460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</a:t>
            </a:r>
            <a:endParaRPr lang="en-US" sz="1250"/>
          </a:p>
        </p:txBody>
      </p:sp>
      <p:sp>
        <p:nvSpPr>
          <p:cNvPr id="16" name="Shape 11"/>
          <p:cNvSpPr/>
          <p:nvPr/>
        </p:nvSpPr>
        <p:spPr>
          <a:xfrm>
            <a:off x="8503920" y="1600200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50324" y="1805940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8" name="Image 3" descr="/home/claude/signalr-pptx/icons/gamep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970" y="194858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95360" y="251460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</a:t>
            </a:r>
            <a:endParaRPr lang="en-US" sz="1250"/>
          </a:p>
        </p:txBody>
      </p:sp>
      <p:sp>
        <p:nvSpPr>
          <p:cNvPr id="20" name="Shape 14"/>
          <p:cNvSpPr/>
          <p:nvPr/>
        </p:nvSpPr>
        <p:spPr>
          <a:xfrm>
            <a:off x="548640" y="3182112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495044" y="3387852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4" descr="/home/claude/signalr-pptx/icons/char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7690" y="3530498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09651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250"/>
          </a:p>
        </p:txBody>
      </p:sp>
      <p:sp>
        <p:nvSpPr>
          <p:cNvPr id="24" name="Shape 17"/>
          <p:cNvSpPr/>
          <p:nvPr/>
        </p:nvSpPr>
        <p:spPr>
          <a:xfrm>
            <a:off x="3200400" y="3182112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146804" y="3387852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6" name="Image 5" descr="/home/claude/signalr-pptx/icons/bel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9450" y="3530498"/>
            <a:ext cx="309067" cy="30906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291840" y="409651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250"/>
          </a:p>
        </p:txBody>
      </p:sp>
      <p:sp>
        <p:nvSpPr>
          <p:cNvPr id="28" name="Shape 20"/>
          <p:cNvSpPr/>
          <p:nvPr/>
        </p:nvSpPr>
        <p:spPr>
          <a:xfrm>
            <a:off x="5852160" y="3182112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798564" y="3387852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6" descr="/home/claude/signalr-pptx/icons/tachomet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1210" y="3530498"/>
            <a:ext cx="309067" cy="30906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943600" y="409651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50"/>
          </a:p>
        </p:txBody>
      </p:sp>
      <p:sp>
        <p:nvSpPr>
          <p:cNvPr id="32" name="Shape 23"/>
          <p:cNvSpPr/>
          <p:nvPr/>
        </p:nvSpPr>
        <p:spPr>
          <a:xfrm>
            <a:off x="8503920" y="3182112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450324" y="3387852"/>
            <a:ext cx="594360" cy="5943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4" name="Image 7" descr="/home/claude/signalr-pptx/icons/network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2970" y="3530498"/>
            <a:ext cx="309067" cy="309067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595360" y="409651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Sist. colaborativos</a:t>
            </a:r>
            <a:endParaRPr lang="en-US" sz="1250"/>
          </a:p>
        </p:txBody>
      </p:sp>
      <p:sp>
        <p:nvSpPr>
          <p:cNvPr id="36" name="Shape 26"/>
          <p:cNvSpPr/>
          <p:nvPr/>
        </p:nvSpPr>
        <p:spPr>
          <a:xfrm>
            <a:off x="548640" y="4828032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937260" y="5152644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8" name="Image 8" descr="/home/claude/signalr-pptx/icons/robo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3798" y="5339182"/>
            <a:ext cx="404165" cy="40416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920240" y="4992624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 desarrollada</a:t>
            </a:r>
            <a:endParaRPr lang="en-US" sz="1500"/>
          </a:p>
        </p:txBody>
      </p:sp>
      <p:sp>
        <p:nvSpPr>
          <p:cNvPr id="40" name="Text 29"/>
          <p:cNvSpPr/>
          <p:nvPr/>
        </p:nvSpPr>
        <p:spPr>
          <a:xfrm>
            <a:off x="1920240" y="5358384"/>
            <a:ext cx="8869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instrumentos musicales con chat privado en tiempo real entre comprador y vendedor tras aceptar una oferta. Además, SignalR puede integrarse con IA para chatbots y asistentes virtuales en tiempo real.</a:t>
            </a:r>
            <a:endParaRPr lang="en-US" sz="1200"/>
          </a:p>
        </p:txBody>
      </p:sp>
      <p:sp>
        <p:nvSpPr>
          <p:cNvPr id="41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42" name="Text 31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0F172A"/>
          </a:solidFill>
          <a:ln w="1524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846320"/>
            <a:ext cx="3474720" cy="3474720"/>
          </a:xfrm>
          <a:prstGeom prst="ellipse">
            <a:avLst/>
          </a:prstGeom>
          <a:solidFill>
            <a:srgbClr val="0F172A"/>
          </a:solidFill>
          <a:ln w="15240">
            <a:solidFill>
              <a:srgbClr val="0D9488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0" y="4114800"/>
            <a:ext cx="4937760" cy="4937760"/>
          </a:xfrm>
          <a:prstGeom prst="ellipse">
            <a:avLst/>
          </a:prstGeom>
          <a:solidFill>
            <a:srgbClr val="0F172A"/>
          </a:solidFill>
          <a:ln w="15240">
            <a:solidFill>
              <a:srgbClr val="0D9488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kern="0" spc="3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Desarrollo de la </a:t>
            </a:r>
            <a:r>
              <a:rPr lang="en-US" sz="1300" b="1" kern="0" spc="300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investigación</a:t>
            </a:r>
            <a:endParaRPr lang="es-ES" err="1"/>
          </a:p>
        </p:txBody>
      </p:sp>
      <p:sp>
        <p:nvSpPr>
          <p:cNvPr id="7" name="Text 5"/>
          <p:cNvSpPr/>
          <p:nvPr/>
        </p:nvSpPr>
        <p:spPr>
          <a:xfrm>
            <a:off x="2156097" y="2050869"/>
            <a:ext cx="7929155" cy="13933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endParaRPr lang="en-US" sz="32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293F64A-423D-ADE5-27BF-EACCD11F4CF4}"/>
              </a:ext>
            </a:extLst>
          </p:cNvPr>
          <p:cNvSpPr/>
          <p:nvPr/>
        </p:nvSpPr>
        <p:spPr>
          <a:xfrm>
            <a:off x="1800496" y="955041"/>
            <a:ext cx="8146869" cy="33382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 sz="3200" b="1" dirty="0">
                <a:solidFill>
                  <a:srgbClr val="FFFFFF"/>
                </a:solidFill>
                <a:latin typeface="Cambria"/>
                <a:ea typeface="Cambria"/>
              </a:rPr>
              <a:t>Presentación de la </a:t>
            </a:r>
            <a:r>
              <a:rPr lang="en-US" sz="3200" b="1" dirty="0" err="1">
                <a:solidFill>
                  <a:srgbClr val="FFFFFF"/>
                </a:solidFill>
                <a:latin typeface="Cambria"/>
                <a:ea typeface="Cambria"/>
              </a:rPr>
              <a:t>práctica</a:t>
            </a:r>
            <a:r>
              <a:rPr lang="en-US" sz="3200" b="1" dirty="0">
                <a:solidFill>
                  <a:srgbClr val="FFFFFF"/>
                </a:solidFill>
                <a:latin typeface="Cambria"/>
                <a:ea typeface="Cambria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/>
                <a:ea typeface="Cambria"/>
              </a:rPr>
              <a:t>desarrollada</a:t>
            </a:r>
            <a:endParaRPr lang="en-US" sz="3200" b="1">
              <a:solidFill>
                <a:srgbClr val="FFFFFF"/>
              </a:solidFill>
              <a:latin typeface="Cambria"/>
              <a:ea typeface="Cambria"/>
            </a:endParaRPr>
          </a:p>
          <a:p>
            <a:pPr>
              <a:lnSpc>
                <a:spcPct val="108000"/>
              </a:lnSpc>
            </a:pPr>
            <a:endParaRPr lang="en-US" sz="3200" b="1" dirty="0">
              <a:solidFill>
                <a:srgbClr val="FFFFFF"/>
              </a:solidFill>
              <a:latin typeface="Cambria"/>
              <a:ea typeface="Cambria"/>
            </a:endParaRPr>
          </a:p>
          <a:p>
            <a:pPr>
              <a:lnSpc>
                <a:spcPct val="108000"/>
              </a:lnSpc>
            </a:pPr>
            <a:r>
              <a:rPr lang="en-US" sz="1600" dirty="0">
                <a:solidFill>
                  <a:srgbClr val="FFFFFF"/>
                </a:solidFill>
                <a:ea typeface="+mn-lt"/>
                <a:cs typeface="+mn-lt"/>
                <a:hlinkClick r:id="rId3"/>
              </a:rPr>
              <a:t>https://drive.google.com/file/d/1tPfeXsGsMXXaoX9dkUa8WzIx4Lv_JaJC/view?usp=sharing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8000"/>
              </a:lnSpc>
            </a:pPr>
            <a:endParaRPr lang="en-US" sz="16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9E47CEE-90C7-C005-2E48-765DB42FAF91}"/>
              </a:ext>
            </a:extLst>
          </p:cNvPr>
          <p:cNvSpPr/>
          <p:nvPr/>
        </p:nvSpPr>
        <p:spPr>
          <a:xfrm>
            <a:off x="2446382" y="2341155"/>
            <a:ext cx="7929155" cy="13933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endParaRPr lang="en-US" sz="32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2CE28-FB36-0A79-139D-ED205F10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395DCB-164D-1275-2DC1-E042FBE4071C}"/>
              </a:ext>
            </a:extLst>
          </p:cNvPr>
          <p:cNvSpPr/>
          <p:nvPr/>
        </p:nvSpPr>
        <p:spPr>
          <a:xfrm>
            <a:off x="-731520" y="5577840"/>
            <a:ext cx="2011680" cy="2011680"/>
          </a:xfrm>
          <a:prstGeom prst="ellipse">
            <a:avLst/>
          </a:prstGeom>
          <a:solidFill>
            <a:srgbClr val="0F172A"/>
          </a:solidFill>
          <a:ln w="1524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73551F-DE0C-2F3A-5A97-F48BC8ED99ED}"/>
              </a:ext>
            </a:extLst>
          </p:cNvPr>
          <p:cNvSpPr/>
          <p:nvPr/>
        </p:nvSpPr>
        <p:spPr>
          <a:xfrm>
            <a:off x="-1463040" y="4846320"/>
            <a:ext cx="3474720" cy="3474720"/>
          </a:xfrm>
          <a:prstGeom prst="ellipse">
            <a:avLst/>
          </a:prstGeom>
          <a:solidFill>
            <a:srgbClr val="0F172A"/>
          </a:solidFill>
          <a:ln w="15240">
            <a:solidFill>
              <a:srgbClr val="0D9488">
                <a:alpha val="33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220333-B018-D1BA-E1A5-C0B0CF4A4DE1}"/>
              </a:ext>
            </a:extLst>
          </p:cNvPr>
          <p:cNvSpPr/>
          <p:nvPr/>
        </p:nvSpPr>
        <p:spPr>
          <a:xfrm>
            <a:off x="-2194560" y="4114800"/>
            <a:ext cx="4937760" cy="4937760"/>
          </a:xfrm>
          <a:prstGeom prst="ellipse">
            <a:avLst/>
          </a:prstGeom>
          <a:solidFill>
            <a:srgbClr val="0F172A"/>
          </a:solidFill>
          <a:ln w="15240">
            <a:solidFill>
              <a:srgbClr val="0D9488">
                <a:alpha val="38000"/>
              </a:srgbClr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4CB620-7104-01DF-FB7A-DBBBE2F3E34B}"/>
              </a:ext>
            </a:extLst>
          </p:cNvPr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kern="0" spc="3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Desarrollo de la </a:t>
            </a:r>
            <a:r>
              <a:rPr lang="en-US" sz="1300" b="1" kern="0" spc="300" err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investigación</a:t>
            </a:r>
            <a:endParaRPr lang="es-ES" err="1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20CA94-4D60-CD6C-F369-3B0950F7A22E}"/>
              </a:ext>
            </a:extLst>
          </p:cNvPr>
          <p:cNvSpPr/>
          <p:nvPr/>
        </p:nvSpPr>
        <p:spPr>
          <a:xfrm>
            <a:off x="2127068" y="1259841"/>
            <a:ext cx="7929155" cy="13933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8000"/>
              </a:lnSpc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</a:rPr>
              <a:t>Gracias </a:t>
            </a:r>
            <a:r>
              <a:rPr lang="en-US" sz="4000" b="1" err="1">
                <a:solidFill>
                  <a:srgbClr val="FFFFFF"/>
                </a:solidFill>
                <a:latin typeface="Cambria"/>
                <a:ea typeface="Cambria"/>
              </a:rPr>
              <a:t>Totales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</a:rPr>
              <a:t>!</a:t>
            </a:r>
            <a:endParaRPr lang="es-E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50C958B0-BD30-DD6B-B179-3AF4810F143D}"/>
              </a:ext>
            </a:extLst>
          </p:cNvPr>
          <p:cNvSpPr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— Programación Web 3 · UNLaM</a:t>
            </a:r>
            <a:endParaRPr lang="en-US" sz="9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36C822DA-B86D-D27D-419B-AF640117F3D9}"/>
              </a:ext>
            </a:extLst>
          </p:cNvPr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2B58BF7-A2BF-7E2F-8D89-62EF41C42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581" y="2654981"/>
            <a:ext cx="2861582" cy="28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88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20</Slides>
  <Notes>20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SignalR</dc:title>
  <dc:subject>PptxGenJS Presentation</dc:subject>
  <dc:creator>UNLaM - Tecnicatura en Desarrollo Web</dc:creator>
  <cp:revision>16</cp:revision>
  <dcterms:created xsi:type="dcterms:W3CDTF">2026-06-29T01:03:24Z</dcterms:created>
  <dcterms:modified xsi:type="dcterms:W3CDTF">2026-06-30T00:12:47Z</dcterms:modified>
</cp:coreProperties>
</file>